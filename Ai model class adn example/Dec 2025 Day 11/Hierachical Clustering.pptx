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435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54" r:id="rId13"/>
    <p:sldId id="395" r:id="rId14"/>
    <p:sldId id="396" r:id="rId15"/>
    <p:sldId id="397" r:id="rId16"/>
    <p:sldId id="332" r:id="rId17"/>
    <p:sldId id="333" r:id="rId18"/>
    <p:sldId id="334" r:id="rId19"/>
    <p:sldId id="398" r:id="rId20"/>
    <p:sldId id="335" r:id="rId21"/>
    <p:sldId id="336" r:id="rId22"/>
    <p:sldId id="337" r:id="rId23"/>
    <p:sldId id="341" r:id="rId24"/>
    <p:sldId id="399" r:id="rId25"/>
    <p:sldId id="400" r:id="rId26"/>
    <p:sldId id="338" r:id="rId27"/>
    <p:sldId id="339" r:id="rId28"/>
    <p:sldId id="35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ECC4BF"/>
    <a:srgbClr val="97EFD3"/>
    <a:srgbClr val="F15574"/>
    <a:srgbClr val="F4EBE8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741" y="2611216"/>
            <a:ext cx="6559419" cy="1375519"/>
          </a:xfrm>
        </p:spPr>
        <p:txBody>
          <a:bodyPr/>
          <a:lstStyle/>
          <a:p>
            <a:pPr algn="ctr"/>
            <a:br>
              <a:rPr lang="en-IN" b="1" i="0" dirty="0">
                <a:solidFill>
                  <a:srgbClr val="05192D"/>
                </a:solidFill>
                <a:effectLst/>
                <a:highlight>
                  <a:srgbClr val="FFFFFF"/>
                </a:highlight>
                <a:latin typeface="Studio-Feixen-Sans"/>
              </a:rPr>
            </a:br>
            <a:r>
              <a:rPr lang="en-IN" b="1" dirty="0">
                <a:solidFill>
                  <a:srgbClr val="05192D"/>
                </a:solidFill>
                <a:latin typeface="Studio-Feixen-Sans"/>
              </a:rPr>
              <a:t>HIERARCHICAL CLUSTERING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BC5B3-3977-012E-E7FE-F46AD8F7E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1707F-5BDB-0D97-D0BF-7E6D65544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36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F4DD00-2467-7FF2-200D-30411032D1C7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1AF76-1672-C37E-196A-E2FF06A74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7" y="965129"/>
            <a:ext cx="10809238" cy="493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7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31E7-13CC-CFB0-BAAD-8F87BAD8F1CB}"/>
              </a:ext>
            </a:extLst>
          </p:cNvPr>
          <p:cNvSpPr txBox="1"/>
          <p:nvPr/>
        </p:nvSpPr>
        <p:spPr>
          <a:xfrm>
            <a:off x="2494625" y="362353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B20F0-878D-DADC-F3A3-C5E11155BA82}"/>
              </a:ext>
            </a:extLst>
          </p:cNvPr>
          <p:cNvSpPr txBox="1"/>
          <p:nvPr/>
        </p:nvSpPr>
        <p:spPr>
          <a:xfrm>
            <a:off x="1670179" y="1589122"/>
            <a:ext cx="850018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 Methods predict subgroups within</a:t>
            </a: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data by: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27323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the distance between each data point and its nearest </a:t>
            </a:r>
            <a:r>
              <a:rPr lang="en-US" sz="2000" dirty="0" err="1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neighbours</a:t>
            </a: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27323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Linking most nearby </a:t>
            </a:r>
            <a:r>
              <a:rPr lang="en-US" sz="2000" dirty="0" err="1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neighbours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43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74C32-D372-20DC-C7F5-699EA835D67A}"/>
              </a:ext>
            </a:extLst>
          </p:cNvPr>
          <p:cNvSpPr txBox="1"/>
          <p:nvPr/>
        </p:nvSpPr>
        <p:spPr>
          <a:xfrm>
            <a:off x="2494625" y="185072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Dendrogram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FBF54-B1F4-1291-4844-77089E64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32" y="971957"/>
            <a:ext cx="10855735" cy="491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5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A53649-E382-8510-F006-7EE0840704AE}"/>
              </a:ext>
            </a:extLst>
          </p:cNvPr>
          <p:cNvSpPr txBox="1"/>
          <p:nvPr/>
        </p:nvSpPr>
        <p:spPr>
          <a:xfrm>
            <a:off x="2494625" y="185072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Agglomerative Clustering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047D4-4DFE-B421-6972-89A025DD2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81" y="1125554"/>
            <a:ext cx="10628724" cy="451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40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C0044-D3C6-6645-244C-A64DEBDC90CA}"/>
              </a:ext>
            </a:extLst>
          </p:cNvPr>
          <p:cNvSpPr txBox="1"/>
          <p:nvPr/>
        </p:nvSpPr>
        <p:spPr>
          <a:xfrm>
            <a:off x="2494625" y="185072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 Clustering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4A5BF-7E9B-D9C6-042B-CF11C496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72" y="1178656"/>
            <a:ext cx="11130356" cy="479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4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6B2F3-8441-4D6E-3520-8B4E8CD5FDFF}"/>
              </a:ext>
            </a:extLst>
          </p:cNvPr>
          <p:cNvSpPr txBox="1"/>
          <p:nvPr/>
        </p:nvSpPr>
        <p:spPr>
          <a:xfrm>
            <a:off x="2494625" y="185072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Measures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173D4-FA48-186C-0E2A-3CECA4D5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58" y="1012954"/>
            <a:ext cx="11340684" cy="506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9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A34B3F-657C-4FA5-AB62-F79D3E2F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11" y="252412"/>
            <a:ext cx="8643562" cy="64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6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E08CD5-C0A2-474C-AB21-44727FA993F1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Ward Method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8DB46-9ADD-172C-2A94-845F9316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33" y="1291007"/>
            <a:ext cx="5590169" cy="4168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58D42-D7C2-C7A4-3054-D6E61680CD48}"/>
              </a:ext>
            </a:extLst>
          </p:cNvPr>
          <p:cNvSpPr txBox="1"/>
          <p:nvPr/>
        </p:nvSpPr>
        <p:spPr>
          <a:xfrm>
            <a:off x="6507332" y="1291007"/>
            <a:ext cx="45808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two-step process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WCSS for each cluster 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the clusters and find WCSS 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Ward’s method says that the distance between two clusters, A and B, is how much the sum of squares (WCSS) will increase when we merge them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48B90-5D8F-2279-1578-2DAFFA251F01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 Parameters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45192-3535-35AD-F25E-EF739CC2FB29}"/>
              </a:ext>
            </a:extLst>
          </p:cNvPr>
          <p:cNvSpPr txBox="1"/>
          <p:nvPr/>
        </p:nvSpPr>
        <p:spPr>
          <a:xfrm>
            <a:off x="2373639" y="1374982"/>
            <a:ext cx="562269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Metrics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Euclidian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Manhattan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Cosine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Linkage Parameters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</a:t>
            </a:r>
          </a:p>
        </p:txBody>
      </p:sp>
    </p:spTree>
    <p:extLst>
      <p:ext uri="{BB962C8B-B14F-4D97-AF65-F5344CB8AC3E}">
        <p14:creationId xmlns:p14="http://schemas.microsoft.com/office/powerpoint/2010/main" val="266204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027A66-15E8-01D6-2A24-BA30013A5F45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 Steps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14890-E787-3E45-598F-1D1705E6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73" y="876079"/>
            <a:ext cx="11362405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8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4FDBA-04E8-253F-CFAA-928681A0A996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Clustering-Example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1C3D4-9775-AAA9-C6E2-C81F39AF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79" y="933772"/>
            <a:ext cx="10920406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3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5078D2-AE22-5C5A-C340-E16564A93808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Clustering-Example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97948-181C-86CC-616E-AE92F76FD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22" y="1008363"/>
            <a:ext cx="10598512" cy="485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89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8D96F-E2A4-8284-BC37-50177F537D81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1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EC5CC-F86F-877A-E5FB-B99E86D52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62" y="901134"/>
            <a:ext cx="10330590" cy="48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064282-B099-E82D-8BED-F068BB2A5FEF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2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517AA-DB34-1C8E-CCB1-13730FCAF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4" y="924387"/>
            <a:ext cx="11230434" cy="514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91BC8F-B87F-B9A4-B9C5-4EDFB499D961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3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A9C4-52FF-64A5-E1B2-6F27B7E52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76" y="873533"/>
            <a:ext cx="10526219" cy="483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48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799395-36B4-F68D-A8F5-94B8B8C7CDD3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4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A0E2A-B0AA-D215-66A6-9E2B53B7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12" y="970712"/>
            <a:ext cx="10757566" cy="491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87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BBC387-2D11-102B-41F1-626C66F4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5" y="1030444"/>
            <a:ext cx="10733948" cy="48571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FA42C0-7BDE-DC1E-71B3-9196B1563758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5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058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CEB14-9B62-F227-59CF-FE88F8A10B4E}"/>
              </a:ext>
            </a:extLst>
          </p:cNvPr>
          <p:cNvSpPr txBox="1"/>
          <p:nvPr/>
        </p:nvSpPr>
        <p:spPr>
          <a:xfrm>
            <a:off x="2494625" y="213064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Example- Step 6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1A016-1B6D-0D67-7C9F-B08EAF2E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45" y="1118861"/>
            <a:ext cx="10472457" cy="460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6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3D723-C4EC-D914-1E1D-9D7155FA1EAE}"/>
              </a:ext>
            </a:extLst>
          </p:cNvPr>
          <p:cNvSpPr txBox="1"/>
          <p:nvPr/>
        </p:nvSpPr>
        <p:spPr>
          <a:xfrm>
            <a:off x="2494625" y="362353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Clustering- Example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7F738-1F56-6689-ADE2-0464C2939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38" y="1227918"/>
            <a:ext cx="8965723" cy="19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59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4AE321-4CCC-9512-0C0B-806B631D3445}"/>
              </a:ext>
            </a:extLst>
          </p:cNvPr>
          <p:cNvSpPr txBox="1"/>
          <p:nvPr/>
        </p:nvSpPr>
        <p:spPr>
          <a:xfrm>
            <a:off x="2494625" y="362353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Clustering- Solution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CE931-1E1C-2A76-5A65-98EE53E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91" y="1138991"/>
            <a:ext cx="10655018" cy="485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41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0C86D-E829-4DEC-F436-44A6F9DCA511}"/>
              </a:ext>
            </a:extLst>
          </p:cNvPr>
          <p:cNvSpPr txBox="1"/>
          <p:nvPr/>
        </p:nvSpPr>
        <p:spPr>
          <a:xfrm>
            <a:off x="2382658" y="124408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Solution- Dendrogram with Ward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55386-995B-653A-04C6-D992D3DB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25" y="710080"/>
            <a:ext cx="6733351" cy="561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58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18F36-F9C4-9755-F446-8171F8E4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66" y="709183"/>
            <a:ext cx="6549412" cy="5641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5F1095-50D0-8870-6E80-4E0B6A64B5D6}"/>
              </a:ext>
            </a:extLst>
          </p:cNvPr>
          <p:cNvSpPr txBox="1"/>
          <p:nvPr/>
        </p:nvSpPr>
        <p:spPr>
          <a:xfrm>
            <a:off x="1262985" y="124408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Solution- Dendrogram with Single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91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4F4BC8-9565-CFB9-199E-39B0F6DF16BE}"/>
              </a:ext>
            </a:extLst>
          </p:cNvPr>
          <p:cNvSpPr txBox="1"/>
          <p:nvPr/>
        </p:nvSpPr>
        <p:spPr>
          <a:xfrm>
            <a:off x="2494625" y="362353"/>
            <a:ext cx="785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Clustering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CDF44C-35BF-D830-9D0E-57119151A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11" y="1089793"/>
            <a:ext cx="7521747" cy="507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5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643E3C-2009-48A1-55CA-CE416B26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79" y="88776"/>
            <a:ext cx="8629334" cy="66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6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853</TotalTime>
  <Words>145</Words>
  <Application>Microsoft Office PowerPoint</Application>
  <PresentationFormat>Widescreen</PresentationFormat>
  <Paragraphs>46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Rounded MT Bold</vt:lpstr>
      <vt:lpstr>Calibri</vt:lpstr>
      <vt:lpstr>Century Gothic</vt:lpstr>
      <vt:lpstr>Karla</vt:lpstr>
      <vt:lpstr>Studio-Feixen-Sans</vt:lpstr>
      <vt:lpstr>Univers Condensed Light</vt:lpstr>
      <vt:lpstr>Office Theme</vt:lpstr>
      <vt:lpstr> 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204</cp:revision>
  <dcterms:created xsi:type="dcterms:W3CDTF">2023-08-11T17:08:08Z</dcterms:created>
  <dcterms:modified xsi:type="dcterms:W3CDTF">2025-12-29T04:25:55Z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