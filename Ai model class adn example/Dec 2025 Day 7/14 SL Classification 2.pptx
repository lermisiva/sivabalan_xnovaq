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84" r:id="rId5"/>
    <p:sldId id="286" r:id="rId6"/>
    <p:sldId id="301" r:id="rId7"/>
    <p:sldId id="302" r:id="rId8"/>
    <p:sldId id="303" r:id="rId9"/>
    <p:sldId id="304" r:id="rId10"/>
    <p:sldId id="305" r:id="rId11"/>
    <p:sldId id="300" r:id="rId12"/>
    <p:sldId id="318" r:id="rId13"/>
    <p:sldId id="319" r:id="rId14"/>
    <p:sldId id="366" r:id="rId15"/>
    <p:sldId id="367" r:id="rId16"/>
    <p:sldId id="320" r:id="rId17"/>
    <p:sldId id="321" r:id="rId18"/>
    <p:sldId id="322" r:id="rId19"/>
    <p:sldId id="323" r:id="rId20"/>
    <p:sldId id="324" r:id="rId21"/>
    <p:sldId id="325" r:id="rId22"/>
    <p:sldId id="363" r:id="rId23"/>
    <p:sldId id="364" r:id="rId24"/>
    <p:sldId id="365" r:id="rId25"/>
    <p:sldId id="362" r:id="rId26"/>
    <p:sldId id="326" r:id="rId27"/>
    <p:sldId id="327" r:id="rId28"/>
    <p:sldId id="328" r:id="rId29"/>
    <p:sldId id="329" r:id="rId30"/>
    <p:sldId id="368" r:id="rId31"/>
    <p:sldId id="369" r:id="rId32"/>
    <p:sldId id="3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C4BF"/>
    <a:srgbClr val="E9C46A"/>
    <a:srgbClr val="97EFD3"/>
    <a:srgbClr val="F15574"/>
    <a:srgbClr val="F4EBE8"/>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99" autoAdjust="0"/>
  </p:normalViewPr>
  <p:slideViewPr>
    <p:cSldViewPr snapToGrid="0" snapToObjects="1" showGuides="1">
      <p:cViewPr varScale="1">
        <p:scale>
          <a:sx n="82" d="100"/>
          <a:sy n="82" d="100"/>
        </p:scale>
        <p:origin x="720" y="72"/>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8/15/2023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a:xfrm>
            <a:off x="4945222" y="4329684"/>
            <a:ext cx="4873752" cy="630936"/>
          </a:xfrm>
        </p:spPr>
        <p:txBody>
          <a:bodyPr/>
          <a:lstStyle/>
          <a:p>
            <a:r>
              <a:rPr lang="en-US" sz="4000" dirty="0">
                <a:latin typeface="Arial" panose="020B0604020202020204" pitchFamily="34" charset="0"/>
                <a:cs typeface="Arial" panose="020B0604020202020204" pitchFamily="34" charset="0"/>
              </a:rPr>
              <a:t>Noble Xavier</a:t>
            </a:r>
          </a:p>
          <a:p>
            <a:endParaRPr lang="en-US" dirty="0"/>
          </a:p>
        </p:txBody>
      </p:sp>
      <p:sp>
        <p:nvSpPr>
          <p:cNvPr id="4" name="Title 3">
            <a:extLst>
              <a:ext uri="{FF2B5EF4-FFF2-40B4-BE49-F238E27FC236}">
                <a16:creationId xmlns:a16="http://schemas.microsoft.com/office/drawing/2014/main" id="{B7B90D92-1819-3D47-8648-D3DB3B00FFFB}"/>
              </a:ext>
            </a:extLst>
          </p:cNvPr>
          <p:cNvSpPr>
            <a:spLocks noGrp="1"/>
          </p:cNvSpPr>
          <p:nvPr>
            <p:ph type="ctrTitle"/>
          </p:nvPr>
        </p:nvSpPr>
        <p:spPr>
          <a:xfrm>
            <a:off x="1463039" y="2240280"/>
            <a:ext cx="9192520" cy="1709928"/>
          </a:xfrm>
        </p:spPr>
        <p:txBody>
          <a:bodyPr/>
          <a:lstStyle/>
          <a:p>
            <a:r>
              <a:rPr lang="en-IN" sz="4800" dirty="0">
                <a:latin typeface="Arial Rounded MT Bold" panose="020F0704030504030204" pitchFamily="34" charset="0"/>
              </a:rPr>
              <a:t>KNN Classification</a:t>
            </a:r>
          </a:p>
        </p:txBody>
      </p:sp>
    </p:spTree>
    <p:extLst>
      <p:ext uri="{BB962C8B-B14F-4D97-AF65-F5344CB8AC3E}">
        <p14:creationId xmlns:p14="http://schemas.microsoft.com/office/powerpoint/2010/main" val="409702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2712841" y="160349"/>
            <a:ext cx="8528179" cy="1077218"/>
          </a:xfrm>
          <a:prstGeom prst="rect">
            <a:avLst/>
          </a:prstGeom>
          <a:noFill/>
        </p:spPr>
        <p:txBody>
          <a:bodyPr wrap="square" rtlCol="0">
            <a:spAutoFit/>
          </a:bodyPr>
          <a:lstStyle/>
          <a:p>
            <a:r>
              <a:rPr lang="en-IN" sz="3200" b="1" i="0" dirty="0">
                <a:solidFill>
                  <a:srgbClr val="273239"/>
                </a:solidFill>
                <a:effectLst/>
                <a:latin typeface="Source Sans 3"/>
              </a:rPr>
              <a:t>K-Nearest </a:t>
            </a:r>
            <a:r>
              <a:rPr lang="en-IN" sz="3200" b="1" i="0" dirty="0" err="1">
                <a:solidFill>
                  <a:srgbClr val="273239"/>
                </a:solidFill>
                <a:effectLst/>
                <a:latin typeface="Source Sans 3"/>
              </a:rPr>
              <a:t>Neighbor</a:t>
            </a:r>
            <a:r>
              <a:rPr lang="en-IN" sz="3200" b="1" i="0" dirty="0">
                <a:solidFill>
                  <a:srgbClr val="273239"/>
                </a:solidFill>
                <a:effectLst/>
                <a:latin typeface="Source Sans 3"/>
              </a:rPr>
              <a:t>(KNN)</a:t>
            </a:r>
          </a:p>
          <a:p>
            <a:endParaRPr lang="en-IN" sz="3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B38AF58-2BAD-E94D-44A6-4B8ACEF070FB}"/>
              </a:ext>
            </a:extLst>
          </p:cNvPr>
          <p:cNvSpPr txBox="1"/>
          <p:nvPr/>
        </p:nvSpPr>
        <p:spPr>
          <a:xfrm>
            <a:off x="950980" y="553891"/>
            <a:ext cx="9899780" cy="2246769"/>
          </a:xfrm>
          <a:prstGeom prst="rect">
            <a:avLst/>
          </a:prstGeom>
          <a:noFill/>
        </p:spPr>
        <p:txBody>
          <a:bodyPr wrap="square">
            <a:spAutoFit/>
          </a:bodyPr>
          <a:lstStyle/>
          <a:p>
            <a:pPr marL="342900" indent="-342900">
              <a:buFont typeface="Arial" panose="020B0604020202020204" pitchFamily="34" charset="0"/>
              <a:buChar char="•"/>
            </a:pPr>
            <a:r>
              <a:rPr lang="en-US" sz="2000" b="0" i="0">
                <a:effectLst/>
                <a:latin typeface="Calibri" panose="020F0502020204030204" pitchFamily="34" charset="0"/>
                <a:ea typeface="Calibri" panose="020F0502020204030204" pitchFamily="34" charset="0"/>
                <a:cs typeface="Calibri" panose="020F0502020204030204" pitchFamily="34" charset="0"/>
              </a:rPr>
              <a:t>K-Nearest Neighbours is one of the most basic yet essential classification algorithms in Machine Learning. </a:t>
            </a:r>
          </a:p>
          <a:p>
            <a:endParaRPr lang="en-US" sz="200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0" i="0">
                <a:solidFill>
                  <a:srgbClr val="333333"/>
                </a:solidFill>
                <a:effectLst/>
                <a:latin typeface="inter-regular"/>
              </a:rPr>
              <a:t>Suppose there are two categories, i.e., Category A and Category B, and we have a new data point x1, so this data point will lie in which of these categories. To solve this type of problem, we need a K-NN algorithm. With the help of K-NN, we can easily identify the category or class of a particular dataset</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B1D6EEED-A11C-76E2-495F-5D85DCB710D5}"/>
              </a:ext>
            </a:extLst>
          </p:cNvPr>
          <p:cNvPicPr>
            <a:picLocks noChangeAspect="1"/>
          </p:cNvPicPr>
          <p:nvPr/>
        </p:nvPicPr>
        <p:blipFill>
          <a:blip r:embed="rId2"/>
          <a:stretch>
            <a:fillRect/>
          </a:stretch>
        </p:blipFill>
        <p:spPr>
          <a:xfrm>
            <a:off x="902516" y="3716185"/>
            <a:ext cx="4879911" cy="2726341"/>
          </a:xfrm>
          <a:prstGeom prst="rect">
            <a:avLst/>
          </a:prstGeom>
        </p:spPr>
      </p:pic>
      <p:sp>
        <p:nvSpPr>
          <p:cNvPr id="11" name="TextBox 10">
            <a:extLst>
              <a:ext uri="{FF2B5EF4-FFF2-40B4-BE49-F238E27FC236}">
                <a16:creationId xmlns:a16="http://schemas.microsoft.com/office/drawing/2014/main" id="{131CB611-DDAD-EDD1-F553-C8EDE8600617}"/>
              </a:ext>
            </a:extLst>
          </p:cNvPr>
          <p:cNvSpPr txBox="1"/>
          <p:nvPr/>
        </p:nvSpPr>
        <p:spPr>
          <a:xfrm>
            <a:off x="1026367" y="2935257"/>
            <a:ext cx="4879911" cy="646331"/>
          </a:xfrm>
          <a:prstGeom prst="rect">
            <a:avLst/>
          </a:prstGeom>
          <a:noFill/>
        </p:spPr>
        <p:txBody>
          <a:bodyPr wrap="square">
            <a:spAutoFit/>
          </a:bodyPr>
          <a:lstStyle/>
          <a:p>
            <a:r>
              <a:rPr lang="en-US" b="0" i="0" dirty="0">
                <a:solidFill>
                  <a:srgbClr val="7030A0"/>
                </a:solidFill>
                <a:effectLst/>
                <a:latin typeface="inter-regular"/>
              </a:rPr>
              <a:t>Suppose we have a new data point and we need to put it in the required category</a:t>
            </a:r>
            <a:endParaRPr lang="en-IN" dirty="0">
              <a:solidFill>
                <a:srgbClr val="7030A0"/>
              </a:solidFill>
            </a:endParaRPr>
          </a:p>
        </p:txBody>
      </p:sp>
      <p:pic>
        <p:nvPicPr>
          <p:cNvPr id="15" name="Picture 14">
            <a:extLst>
              <a:ext uri="{FF2B5EF4-FFF2-40B4-BE49-F238E27FC236}">
                <a16:creationId xmlns:a16="http://schemas.microsoft.com/office/drawing/2014/main" id="{B425A1E9-8318-90AC-B002-5E2AB12DB2F2}"/>
              </a:ext>
            </a:extLst>
          </p:cNvPr>
          <p:cNvPicPr>
            <a:picLocks noChangeAspect="1"/>
          </p:cNvPicPr>
          <p:nvPr/>
        </p:nvPicPr>
        <p:blipFill>
          <a:blip r:embed="rId3"/>
          <a:stretch>
            <a:fillRect/>
          </a:stretch>
        </p:blipFill>
        <p:spPr>
          <a:xfrm>
            <a:off x="7148538" y="3716185"/>
            <a:ext cx="4140946" cy="2785108"/>
          </a:xfrm>
          <a:prstGeom prst="rect">
            <a:avLst/>
          </a:prstGeom>
        </p:spPr>
      </p:pic>
      <p:sp>
        <p:nvSpPr>
          <p:cNvPr id="17" name="TextBox 16">
            <a:extLst>
              <a:ext uri="{FF2B5EF4-FFF2-40B4-BE49-F238E27FC236}">
                <a16:creationId xmlns:a16="http://schemas.microsoft.com/office/drawing/2014/main" id="{7AC3F8CE-6943-934E-9AE5-4D905119872F}"/>
              </a:ext>
            </a:extLst>
          </p:cNvPr>
          <p:cNvSpPr txBox="1"/>
          <p:nvPr/>
        </p:nvSpPr>
        <p:spPr>
          <a:xfrm>
            <a:off x="6847043" y="2732537"/>
            <a:ext cx="4393977" cy="923330"/>
          </a:xfrm>
          <a:prstGeom prst="rect">
            <a:avLst/>
          </a:prstGeom>
          <a:noFill/>
        </p:spPr>
        <p:txBody>
          <a:bodyPr wrap="square">
            <a:spAutoFit/>
          </a:bodyPr>
          <a:lstStyle/>
          <a:p>
            <a:pPr algn="just"/>
            <a:r>
              <a:rPr lang="en-US" b="0" i="0" dirty="0">
                <a:solidFill>
                  <a:srgbClr val="7030A0"/>
                </a:solidFill>
                <a:effectLst/>
                <a:latin typeface="inter-regular"/>
              </a:rPr>
              <a:t>Consider K = 5, In this case, the 3 nearest </a:t>
            </a:r>
            <a:r>
              <a:rPr lang="en-US" b="0" i="0" dirty="0" err="1">
                <a:solidFill>
                  <a:srgbClr val="7030A0"/>
                </a:solidFill>
                <a:effectLst/>
                <a:latin typeface="inter-regular"/>
              </a:rPr>
              <a:t>neighbours</a:t>
            </a:r>
            <a:r>
              <a:rPr lang="en-US" b="0" i="0" dirty="0">
                <a:solidFill>
                  <a:srgbClr val="7030A0"/>
                </a:solidFill>
                <a:effectLst/>
                <a:latin typeface="inter-regular"/>
              </a:rPr>
              <a:t> are from category A, hence this new data point </a:t>
            </a:r>
            <a:r>
              <a:rPr lang="en-US" b="0" i="0" dirty="0">
                <a:solidFill>
                  <a:srgbClr val="7030A0"/>
                </a:solidFill>
                <a:effectLst/>
                <a:highlight>
                  <a:srgbClr val="00FFFF"/>
                </a:highlight>
                <a:latin typeface="inter-regular"/>
              </a:rPr>
              <a:t>must belong to category A</a:t>
            </a:r>
            <a:r>
              <a:rPr lang="en-US" b="0" i="0" dirty="0">
                <a:solidFill>
                  <a:srgbClr val="7030A0"/>
                </a:solidFill>
                <a:effectLst/>
                <a:latin typeface="inter-regular"/>
              </a:rPr>
              <a:t>.</a:t>
            </a:r>
          </a:p>
        </p:txBody>
      </p:sp>
    </p:spTree>
    <p:extLst>
      <p:ext uri="{BB962C8B-B14F-4D97-AF65-F5344CB8AC3E}">
        <p14:creationId xmlns:p14="http://schemas.microsoft.com/office/powerpoint/2010/main" val="68197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2712841" y="160349"/>
            <a:ext cx="8528179" cy="1077218"/>
          </a:xfrm>
          <a:prstGeom prst="rect">
            <a:avLst/>
          </a:prstGeom>
          <a:noFill/>
        </p:spPr>
        <p:txBody>
          <a:bodyPr wrap="square" rtlCol="0">
            <a:spAutoFit/>
          </a:bodyPr>
          <a:lstStyle/>
          <a:p>
            <a:r>
              <a:rPr lang="en-IN" sz="3200" b="1" i="0" dirty="0">
                <a:solidFill>
                  <a:srgbClr val="273239"/>
                </a:solidFill>
                <a:effectLst/>
                <a:latin typeface="Source Sans 3"/>
              </a:rPr>
              <a:t>K-Nearest </a:t>
            </a:r>
            <a:r>
              <a:rPr lang="en-IN" sz="3200" b="1" i="0" dirty="0" err="1">
                <a:solidFill>
                  <a:srgbClr val="273239"/>
                </a:solidFill>
                <a:effectLst/>
                <a:latin typeface="Source Sans 3"/>
              </a:rPr>
              <a:t>Neighbor</a:t>
            </a:r>
            <a:r>
              <a:rPr lang="en-IN" sz="3200" b="1" i="0" dirty="0">
                <a:solidFill>
                  <a:srgbClr val="273239"/>
                </a:solidFill>
                <a:effectLst/>
                <a:latin typeface="Source Sans 3"/>
              </a:rPr>
              <a:t>(KNN)</a:t>
            </a:r>
          </a:p>
          <a:p>
            <a:endParaRPr lang="en-IN" sz="3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A118361-8524-7637-16D6-729E01D1B441}"/>
              </a:ext>
            </a:extLst>
          </p:cNvPr>
          <p:cNvSpPr txBox="1"/>
          <p:nvPr/>
        </p:nvSpPr>
        <p:spPr>
          <a:xfrm>
            <a:off x="1315616" y="935036"/>
            <a:ext cx="10235682" cy="4093428"/>
          </a:xfrm>
          <a:prstGeom prst="rect">
            <a:avLst/>
          </a:prstGeom>
          <a:noFill/>
        </p:spPr>
        <p:txBody>
          <a:bodyPr wrap="square">
            <a:spAutoFit/>
          </a:bodyPr>
          <a:lstStyle/>
          <a:p>
            <a:pPr algn="l"/>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2000" i="0" dirty="0">
                <a:effectLst/>
                <a:latin typeface="Calibri" panose="020F0502020204030204" pitchFamily="34" charset="0"/>
                <a:ea typeface="Calibri" panose="020F0502020204030204" pitchFamily="34" charset="0"/>
                <a:cs typeface="Calibri" panose="020F0502020204030204" pitchFamily="34" charset="0"/>
              </a:rPr>
              <a:t>The steps for the KNN Algorithm in Machine Learning are as follows:</a:t>
            </a:r>
          </a:p>
          <a:p>
            <a:pPr algn="l"/>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i="0" dirty="0">
                <a:effectLst/>
                <a:latin typeface="Calibri" panose="020F0502020204030204" pitchFamily="34" charset="0"/>
                <a:ea typeface="Calibri" panose="020F0502020204030204" pitchFamily="34" charset="0"/>
                <a:cs typeface="Calibri" panose="020F0502020204030204" pitchFamily="34" charset="0"/>
              </a:rPr>
              <a:t>Step - 1:  Select the number K of the neighbors</a:t>
            </a:r>
          </a:p>
          <a:p>
            <a:pPr algn="l">
              <a:buFont typeface="Arial" panose="020B0604020202020204" pitchFamily="34" charset="0"/>
              <a:buChar char="•"/>
            </a:pP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i="0" dirty="0">
                <a:effectLst/>
                <a:latin typeface="Calibri" panose="020F0502020204030204" pitchFamily="34" charset="0"/>
                <a:ea typeface="Calibri" panose="020F0502020204030204" pitchFamily="34" charset="0"/>
                <a:cs typeface="Calibri" panose="020F0502020204030204" pitchFamily="34" charset="0"/>
              </a:rPr>
              <a:t>Step - 2: Calculate the Euclidean distance of each point from the target point.</a:t>
            </a:r>
          </a:p>
          <a:p>
            <a:pPr algn="l">
              <a:buFont typeface="Arial" panose="020B0604020202020204" pitchFamily="34" charset="0"/>
              <a:buChar char="•"/>
            </a:pP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i="0" dirty="0">
                <a:effectLst/>
                <a:latin typeface="Calibri" panose="020F0502020204030204" pitchFamily="34" charset="0"/>
                <a:ea typeface="Calibri" panose="020F0502020204030204" pitchFamily="34" charset="0"/>
                <a:cs typeface="Calibri" panose="020F0502020204030204" pitchFamily="34" charset="0"/>
              </a:rPr>
              <a:t>Step - 3: Take the K nearest neighbors per the calculated Euclidean distance.</a:t>
            </a:r>
          </a:p>
          <a:p>
            <a:pPr algn="l">
              <a:buFont typeface="Arial" panose="020B0604020202020204" pitchFamily="34" charset="0"/>
              <a:buChar char="•"/>
            </a:pP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i="0" dirty="0">
                <a:effectLst/>
                <a:latin typeface="Calibri" panose="020F0502020204030204" pitchFamily="34" charset="0"/>
                <a:ea typeface="Calibri" panose="020F0502020204030204" pitchFamily="34" charset="0"/>
                <a:cs typeface="Calibri" panose="020F0502020204030204" pitchFamily="34" charset="0"/>
              </a:rPr>
              <a:t>Step - 4: Among these k neighbors, count the number of the data points in each category.</a:t>
            </a:r>
          </a:p>
          <a:p>
            <a:pPr algn="l">
              <a:buFont typeface="Arial" panose="020B0604020202020204" pitchFamily="34" charset="0"/>
              <a:buChar char="•"/>
            </a:pP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i="0" dirty="0">
                <a:effectLst/>
                <a:latin typeface="Calibri" panose="020F0502020204030204" pitchFamily="34" charset="0"/>
                <a:ea typeface="Calibri" panose="020F0502020204030204" pitchFamily="34" charset="0"/>
                <a:cs typeface="Calibri" panose="020F0502020204030204" pitchFamily="34" charset="0"/>
              </a:rPr>
              <a:t>Step - 5: Assign the new data points to that category for which the number of neighbors is maximum.</a:t>
            </a:r>
          </a:p>
        </p:txBody>
      </p:sp>
    </p:spTree>
    <p:extLst>
      <p:ext uri="{BB962C8B-B14F-4D97-AF65-F5344CB8AC3E}">
        <p14:creationId xmlns:p14="http://schemas.microsoft.com/office/powerpoint/2010/main" val="3211375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2712841" y="160349"/>
            <a:ext cx="8528179" cy="1077218"/>
          </a:xfrm>
          <a:prstGeom prst="rect">
            <a:avLst/>
          </a:prstGeom>
          <a:noFill/>
        </p:spPr>
        <p:txBody>
          <a:bodyPr wrap="square" rtlCol="0">
            <a:spAutoFit/>
          </a:bodyPr>
          <a:lstStyle/>
          <a:p>
            <a:r>
              <a:rPr lang="en-IN" sz="3200" b="1" i="0" dirty="0">
                <a:solidFill>
                  <a:srgbClr val="273239"/>
                </a:solidFill>
                <a:effectLst/>
                <a:latin typeface="Source Sans 3"/>
              </a:rPr>
              <a:t>K-Nearest </a:t>
            </a:r>
            <a:r>
              <a:rPr lang="en-IN" sz="3200" b="1" i="0" dirty="0" err="1">
                <a:solidFill>
                  <a:srgbClr val="273239"/>
                </a:solidFill>
                <a:effectLst/>
                <a:latin typeface="Source Sans 3"/>
              </a:rPr>
              <a:t>Neighbor</a:t>
            </a:r>
            <a:r>
              <a:rPr lang="en-IN" sz="3200" b="1" i="0" dirty="0">
                <a:solidFill>
                  <a:srgbClr val="273239"/>
                </a:solidFill>
                <a:effectLst/>
                <a:latin typeface="Source Sans 3"/>
              </a:rPr>
              <a:t>(KNN)</a:t>
            </a:r>
          </a:p>
          <a:p>
            <a:endParaRPr lang="en-IN" sz="3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A118361-8524-7637-16D6-729E01D1B441}"/>
              </a:ext>
            </a:extLst>
          </p:cNvPr>
          <p:cNvSpPr txBox="1"/>
          <p:nvPr/>
        </p:nvSpPr>
        <p:spPr>
          <a:xfrm>
            <a:off x="950980" y="935036"/>
            <a:ext cx="10235682" cy="4708981"/>
          </a:xfrm>
          <a:prstGeom prst="rect">
            <a:avLst/>
          </a:prstGeom>
          <a:noFill/>
        </p:spPr>
        <p:txBody>
          <a:bodyPr wrap="square">
            <a:spAutoFit/>
          </a:bodyPr>
          <a:lstStyle/>
          <a:p>
            <a:pPr algn="l"/>
            <a:r>
              <a:rPr lang="en-US" sz="2000" b="1" i="0" dirty="0">
                <a:effectLst/>
                <a:latin typeface="Calibri" panose="020F0502020204030204" pitchFamily="34" charset="0"/>
                <a:ea typeface="Calibri" panose="020F0502020204030204" pitchFamily="34" charset="0"/>
                <a:cs typeface="Calibri" panose="020F0502020204030204" pitchFamily="34" charset="0"/>
              </a:rPr>
              <a:t>Advantage </a:t>
            </a:r>
          </a:p>
          <a:p>
            <a:pPr algn="l"/>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pPr algn="just">
              <a:buFont typeface="Arial" panose="020B0604020202020204" pitchFamily="34" charset="0"/>
              <a:buChar char="•"/>
            </a:pPr>
            <a:r>
              <a:rPr lang="en-US" sz="2000" b="0" i="0" dirty="0">
                <a:solidFill>
                  <a:srgbClr val="000000"/>
                </a:solidFill>
                <a:effectLst/>
                <a:latin typeface="inter-regular"/>
              </a:rPr>
              <a:t>It is simple to implement.</a:t>
            </a:r>
          </a:p>
          <a:p>
            <a:pPr algn="just"/>
            <a:endParaRPr lang="en-US" sz="2000" b="0" i="0" dirty="0">
              <a:solidFill>
                <a:srgbClr val="000000"/>
              </a:solidFill>
              <a:effectLst/>
              <a:latin typeface="inter-regular"/>
            </a:endParaRPr>
          </a:p>
          <a:p>
            <a:pPr algn="just">
              <a:buFont typeface="Arial" panose="020B0604020202020204" pitchFamily="34" charset="0"/>
              <a:buChar char="•"/>
            </a:pPr>
            <a:r>
              <a:rPr lang="en-US" sz="2000" b="0" i="0" dirty="0">
                <a:solidFill>
                  <a:srgbClr val="000000"/>
                </a:solidFill>
                <a:effectLst/>
                <a:latin typeface="inter-regular"/>
              </a:rPr>
              <a:t>It is robust to the noisy training data.</a:t>
            </a:r>
          </a:p>
          <a:p>
            <a:pPr algn="just"/>
            <a:endParaRPr lang="en-US" sz="2000" b="0" i="0" dirty="0">
              <a:solidFill>
                <a:srgbClr val="000000"/>
              </a:solidFill>
              <a:effectLst/>
              <a:latin typeface="inter-regular"/>
            </a:endParaRPr>
          </a:p>
          <a:p>
            <a:pPr algn="just">
              <a:buFont typeface="Arial" panose="020B0604020202020204" pitchFamily="34" charset="0"/>
              <a:buChar char="•"/>
            </a:pPr>
            <a:r>
              <a:rPr lang="en-US" sz="2000" b="0" i="0" dirty="0">
                <a:solidFill>
                  <a:srgbClr val="000000"/>
                </a:solidFill>
                <a:effectLst/>
                <a:latin typeface="inter-regular"/>
              </a:rPr>
              <a:t>It can be more effective if the training data is large.</a:t>
            </a:r>
          </a:p>
          <a:p>
            <a:pPr algn="just">
              <a:buFont typeface="Arial" panose="020B0604020202020204" pitchFamily="34" charset="0"/>
              <a:buChar char="•"/>
            </a:pPr>
            <a:endParaRPr lang="en-US" sz="2000" b="0" i="0" dirty="0">
              <a:solidFill>
                <a:srgbClr val="000000"/>
              </a:solidFill>
              <a:effectLst/>
              <a:latin typeface="inter-regular"/>
            </a:endParaRPr>
          </a:p>
          <a:p>
            <a:pPr algn="just"/>
            <a:r>
              <a:rPr lang="en-US" sz="2000" b="1" i="0" dirty="0">
                <a:effectLst/>
                <a:latin typeface="Calibri" panose="020F0502020204030204" pitchFamily="34" charset="0"/>
                <a:ea typeface="Calibri" panose="020F0502020204030204" pitchFamily="34" charset="0"/>
                <a:cs typeface="Calibri" panose="020F0502020204030204" pitchFamily="34" charset="0"/>
              </a:rPr>
              <a:t>Disadvantage  </a:t>
            </a:r>
          </a:p>
          <a:p>
            <a:pPr algn="just">
              <a:buFont typeface="Arial" panose="020B0604020202020204" pitchFamily="34" charset="0"/>
              <a:buChar char="•"/>
            </a:pPr>
            <a:endParaRPr lang="en-US" sz="2000" dirty="0">
              <a:solidFill>
                <a:srgbClr val="000000"/>
              </a:solidFill>
              <a:latin typeface="inter-regular"/>
            </a:endParaRPr>
          </a:p>
          <a:p>
            <a:pPr algn="just">
              <a:buFont typeface="Arial" panose="020B0604020202020204" pitchFamily="34" charset="0"/>
              <a:buChar char="•"/>
            </a:pPr>
            <a:r>
              <a:rPr lang="en-US" sz="2000" b="0" i="0" dirty="0">
                <a:solidFill>
                  <a:srgbClr val="000000"/>
                </a:solidFill>
                <a:effectLst/>
                <a:latin typeface="inter-regular"/>
              </a:rPr>
              <a:t>Always needs to determine the value of K which may be complex sometimes.</a:t>
            </a:r>
          </a:p>
          <a:p>
            <a:pPr algn="just"/>
            <a:endParaRPr lang="en-US" sz="2000" b="0" i="0" dirty="0">
              <a:solidFill>
                <a:srgbClr val="000000"/>
              </a:solidFill>
              <a:effectLst/>
              <a:latin typeface="inter-regular"/>
            </a:endParaRPr>
          </a:p>
          <a:p>
            <a:pPr algn="just">
              <a:buFont typeface="Arial" panose="020B0604020202020204" pitchFamily="34" charset="0"/>
              <a:buChar char="•"/>
            </a:pPr>
            <a:r>
              <a:rPr lang="en-US" sz="2000" b="0" i="0" dirty="0">
                <a:solidFill>
                  <a:srgbClr val="000000"/>
                </a:solidFill>
                <a:effectLst/>
                <a:latin typeface="inter-regular"/>
              </a:rPr>
              <a:t>The computation cost is high because of calculating the distance between the data points for all the training samples.</a:t>
            </a:r>
          </a:p>
          <a:p>
            <a:pPr algn="just">
              <a:buFont typeface="Arial" panose="020B0604020202020204" pitchFamily="34" charset="0"/>
              <a:buChar char="•"/>
            </a:pP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4292578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KNN Example </a:t>
            </a:r>
            <a:endParaRPr lang="en-IN" sz="32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A010913-E942-BC0E-8DC2-F713A39E5246}"/>
              </a:ext>
            </a:extLst>
          </p:cNvPr>
          <p:cNvPicPr>
            <a:picLocks noChangeAspect="1"/>
          </p:cNvPicPr>
          <p:nvPr/>
        </p:nvPicPr>
        <p:blipFill>
          <a:blip r:embed="rId2"/>
          <a:stretch>
            <a:fillRect/>
          </a:stretch>
        </p:blipFill>
        <p:spPr>
          <a:xfrm>
            <a:off x="6574545" y="1843901"/>
            <a:ext cx="4724826" cy="3557705"/>
          </a:xfrm>
          <a:prstGeom prst="rect">
            <a:avLst/>
          </a:prstGeom>
        </p:spPr>
      </p:pic>
      <p:pic>
        <p:nvPicPr>
          <p:cNvPr id="10" name="Picture 9">
            <a:extLst>
              <a:ext uri="{FF2B5EF4-FFF2-40B4-BE49-F238E27FC236}">
                <a16:creationId xmlns:a16="http://schemas.microsoft.com/office/drawing/2014/main" id="{A400A34A-C6B0-CA9E-66BD-DFE49B5DB156}"/>
              </a:ext>
            </a:extLst>
          </p:cNvPr>
          <p:cNvPicPr>
            <a:picLocks noChangeAspect="1"/>
          </p:cNvPicPr>
          <p:nvPr/>
        </p:nvPicPr>
        <p:blipFill>
          <a:blip r:embed="rId3"/>
          <a:stretch>
            <a:fillRect/>
          </a:stretch>
        </p:blipFill>
        <p:spPr>
          <a:xfrm>
            <a:off x="417120" y="1934272"/>
            <a:ext cx="5059949" cy="3648075"/>
          </a:xfrm>
          <a:prstGeom prst="rect">
            <a:avLst/>
          </a:prstGeom>
        </p:spPr>
      </p:pic>
      <p:sp>
        <p:nvSpPr>
          <p:cNvPr id="11" name="TextBox 10">
            <a:extLst>
              <a:ext uri="{FF2B5EF4-FFF2-40B4-BE49-F238E27FC236}">
                <a16:creationId xmlns:a16="http://schemas.microsoft.com/office/drawing/2014/main" id="{4F8CE352-6152-ABC9-EB70-8376D56F8576}"/>
              </a:ext>
            </a:extLst>
          </p:cNvPr>
          <p:cNvSpPr txBox="1"/>
          <p:nvPr/>
        </p:nvSpPr>
        <p:spPr>
          <a:xfrm>
            <a:off x="587829" y="1184988"/>
            <a:ext cx="4627983" cy="461665"/>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New Data Point is part of </a:t>
            </a:r>
            <a:r>
              <a:rPr lang="en-IN" sz="2400" dirty="0">
                <a:solidFill>
                  <a:srgbClr val="7030A0"/>
                </a:solidFill>
                <a:latin typeface="Calibri" panose="020F0502020204030204" pitchFamily="34" charset="0"/>
                <a:ea typeface="Calibri" panose="020F0502020204030204" pitchFamily="34" charset="0"/>
                <a:cs typeface="Calibri" panose="020F0502020204030204" pitchFamily="34" charset="0"/>
              </a:rPr>
              <a:t>Class B </a:t>
            </a:r>
          </a:p>
        </p:txBody>
      </p:sp>
      <p:sp>
        <p:nvSpPr>
          <p:cNvPr id="12" name="TextBox 11">
            <a:extLst>
              <a:ext uri="{FF2B5EF4-FFF2-40B4-BE49-F238E27FC236}">
                <a16:creationId xmlns:a16="http://schemas.microsoft.com/office/drawing/2014/main" id="{75EE8592-06F2-B7A8-1631-E57E457C0553}"/>
              </a:ext>
            </a:extLst>
          </p:cNvPr>
          <p:cNvSpPr txBox="1"/>
          <p:nvPr/>
        </p:nvSpPr>
        <p:spPr>
          <a:xfrm>
            <a:off x="6739813" y="1155032"/>
            <a:ext cx="4627983" cy="461665"/>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New Data Point is part of </a:t>
            </a:r>
            <a:r>
              <a:rPr lang="en-IN" sz="2400" dirty="0">
                <a:solidFill>
                  <a:srgbClr val="7030A0"/>
                </a:solidFill>
                <a:latin typeface="Calibri" panose="020F0502020204030204" pitchFamily="34" charset="0"/>
                <a:ea typeface="Calibri" panose="020F0502020204030204" pitchFamily="34" charset="0"/>
                <a:cs typeface="Calibri" panose="020F0502020204030204" pitchFamily="34" charset="0"/>
              </a:rPr>
              <a:t>Class A </a:t>
            </a:r>
          </a:p>
        </p:txBody>
      </p:sp>
    </p:spTree>
    <p:extLst>
      <p:ext uri="{BB962C8B-B14F-4D97-AF65-F5344CB8AC3E}">
        <p14:creationId xmlns:p14="http://schemas.microsoft.com/office/powerpoint/2010/main" val="2138475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KNN- Distance</a:t>
            </a:r>
            <a:endParaRPr lang="en-IN" sz="3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05BB89A-E238-3713-4698-F4943EA482B1}"/>
              </a:ext>
            </a:extLst>
          </p:cNvPr>
          <p:cNvPicPr>
            <a:picLocks noChangeAspect="1"/>
          </p:cNvPicPr>
          <p:nvPr/>
        </p:nvPicPr>
        <p:blipFill>
          <a:blip r:embed="rId2"/>
          <a:stretch>
            <a:fillRect/>
          </a:stretch>
        </p:blipFill>
        <p:spPr>
          <a:xfrm>
            <a:off x="587829" y="1444914"/>
            <a:ext cx="4674636" cy="4352865"/>
          </a:xfrm>
          <a:prstGeom prst="rect">
            <a:avLst/>
          </a:prstGeom>
        </p:spPr>
      </p:pic>
      <p:pic>
        <p:nvPicPr>
          <p:cNvPr id="13" name="Picture 12">
            <a:extLst>
              <a:ext uri="{FF2B5EF4-FFF2-40B4-BE49-F238E27FC236}">
                <a16:creationId xmlns:a16="http://schemas.microsoft.com/office/drawing/2014/main" id="{3134C2C7-A42F-CA3A-3923-3DDF3B2CEE9A}"/>
              </a:ext>
            </a:extLst>
          </p:cNvPr>
          <p:cNvPicPr>
            <a:picLocks noChangeAspect="1"/>
          </p:cNvPicPr>
          <p:nvPr/>
        </p:nvPicPr>
        <p:blipFill>
          <a:blip r:embed="rId3"/>
          <a:stretch>
            <a:fillRect/>
          </a:stretch>
        </p:blipFill>
        <p:spPr>
          <a:xfrm>
            <a:off x="6306394" y="1444914"/>
            <a:ext cx="4106569" cy="4373335"/>
          </a:xfrm>
          <a:prstGeom prst="rect">
            <a:avLst/>
          </a:prstGeom>
        </p:spPr>
      </p:pic>
    </p:spTree>
    <p:extLst>
      <p:ext uri="{BB962C8B-B14F-4D97-AF65-F5344CB8AC3E}">
        <p14:creationId xmlns:p14="http://schemas.microsoft.com/office/powerpoint/2010/main" val="4252273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45EB92E3-8A24-45CB-415C-E60060BF5451}"/>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KNN- Example</a:t>
            </a:r>
            <a:endParaRPr lang="en-IN" sz="32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DD89EBF1-5B2C-1935-75D3-1FB0D873CD32}"/>
              </a:ext>
            </a:extLst>
          </p:cNvPr>
          <p:cNvPicPr>
            <a:picLocks noChangeAspect="1"/>
          </p:cNvPicPr>
          <p:nvPr/>
        </p:nvPicPr>
        <p:blipFill>
          <a:blip r:embed="rId2"/>
          <a:stretch>
            <a:fillRect/>
          </a:stretch>
        </p:blipFill>
        <p:spPr>
          <a:xfrm>
            <a:off x="626100" y="1059448"/>
            <a:ext cx="10662124" cy="5061434"/>
          </a:xfrm>
          <a:prstGeom prst="rect">
            <a:avLst/>
          </a:prstGeom>
        </p:spPr>
      </p:pic>
    </p:spTree>
    <p:extLst>
      <p:ext uri="{BB962C8B-B14F-4D97-AF65-F5344CB8AC3E}">
        <p14:creationId xmlns:p14="http://schemas.microsoft.com/office/powerpoint/2010/main" val="1280579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1498-DA8F-86CB-A0EE-3DB382013812}"/>
              </a:ext>
            </a:extLst>
          </p:cNvPr>
          <p:cNvSpPr>
            <a:spLocks noGrp="1"/>
          </p:cNvSpPr>
          <p:nvPr>
            <p:ph type="title"/>
          </p:nvPr>
        </p:nvSpPr>
        <p:spPr/>
        <p:txBody>
          <a:bodyPr/>
          <a:lstStyle/>
          <a:p>
            <a:r>
              <a:rPr lang="en-IN" dirty="0">
                <a:latin typeface="Arial Rounded MT Bold" panose="020F0704030504030204" pitchFamily="34" charset="0"/>
              </a:rPr>
              <a:t>ACCURACY</a:t>
            </a:r>
          </a:p>
        </p:txBody>
      </p:sp>
      <p:sp>
        <p:nvSpPr>
          <p:cNvPr id="4" name="Text Placeholder 3">
            <a:extLst>
              <a:ext uri="{FF2B5EF4-FFF2-40B4-BE49-F238E27FC236}">
                <a16:creationId xmlns:a16="http://schemas.microsoft.com/office/drawing/2014/main" id="{233BC5B3-3977-012E-E7FE-F46AD8F7E399}"/>
              </a:ext>
            </a:extLst>
          </p:cNvPr>
          <p:cNvSpPr>
            <a:spLocks noGrp="1"/>
          </p:cNvSpPr>
          <p:nvPr>
            <p:ph type="body" sz="quarter" idx="14"/>
          </p:nvPr>
        </p:nvSpPr>
        <p:spPr/>
        <p:txBody>
          <a:bodyPr/>
          <a:lstStyle/>
          <a:p>
            <a:endParaRPr lang="en-IN" dirty="0"/>
          </a:p>
        </p:txBody>
      </p:sp>
      <p:sp>
        <p:nvSpPr>
          <p:cNvPr id="5" name="Text Placeholder 4">
            <a:extLst>
              <a:ext uri="{FF2B5EF4-FFF2-40B4-BE49-F238E27FC236}">
                <a16:creationId xmlns:a16="http://schemas.microsoft.com/office/drawing/2014/main" id="{E391707F-5BDB-0D97-D0BF-7E6D65544EE0}"/>
              </a:ext>
            </a:extLst>
          </p:cNvPr>
          <p:cNvSpPr>
            <a:spLocks noGrp="1"/>
          </p:cNvSpPr>
          <p:nvPr>
            <p:ph type="body" sz="quarter" idx="15"/>
          </p:nvPr>
        </p:nvSpPr>
        <p:spPr/>
        <p:txBody>
          <a:bodyPr/>
          <a:lstStyle/>
          <a:p>
            <a:endParaRPr lang="en-IN" dirty="0"/>
          </a:p>
        </p:txBody>
      </p:sp>
    </p:spTree>
    <p:extLst>
      <p:ext uri="{BB962C8B-B14F-4D97-AF65-F5344CB8AC3E}">
        <p14:creationId xmlns:p14="http://schemas.microsoft.com/office/powerpoint/2010/main" val="4281335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017CE0-55E2-4875-9209-A010D5D16D25}"/>
              </a:ext>
            </a:extLst>
          </p:cNvPr>
          <p:cNvPicPr>
            <a:picLocks noChangeAspect="1"/>
          </p:cNvPicPr>
          <p:nvPr/>
        </p:nvPicPr>
        <p:blipFill>
          <a:blip r:embed="rId2"/>
          <a:stretch>
            <a:fillRect/>
          </a:stretch>
        </p:blipFill>
        <p:spPr>
          <a:xfrm>
            <a:off x="421334" y="788212"/>
            <a:ext cx="7627814" cy="5281576"/>
          </a:xfrm>
          <a:prstGeom prst="rect">
            <a:avLst/>
          </a:prstGeom>
        </p:spPr>
      </p:pic>
    </p:spTree>
    <p:extLst>
      <p:ext uri="{BB962C8B-B14F-4D97-AF65-F5344CB8AC3E}">
        <p14:creationId xmlns:p14="http://schemas.microsoft.com/office/powerpoint/2010/main" val="126184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1D058-FD9F-AA3C-C867-891F38ECED59}"/>
              </a:ext>
            </a:extLst>
          </p:cNvPr>
          <p:cNvSpPr txBox="1"/>
          <p:nvPr/>
        </p:nvSpPr>
        <p:spPr>
          <a:xfrm>
            <a:off x="923731" y="3502049"/>
            <a:ext cx="10664889" cy="2246769"/>
          </a:xfrm>
          <a:prstGeom prst="rect">
            <a:avLst/>
          </a:prstGeom>
          <a:noFill/>
        </p:spPr>
        <p:txBody>
          <a:bodyPr wrap="square">
            <a:spAutoFit/>
          </a:bodyPr>
          <a:lstStyle/>
          <a:p>
            <a:pPr algn="l"/>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True Positive(TP): </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Values that are actually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positive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and predicted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positive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t>
            </a:r>
          </a:p>
          <a:p>
            <a:pPr algn="l"/>
            <a:endParaRPr lang="en-US" sz="2000" dirty="0">
              <a:solidFill>
                <a:srgbClr val="242424"/>
              </a:solidFill>
              <a:latin typeface="Calibri" panose="020F0502020204030204" pitchFamily="34" charset="0"/>
              <a:ea typeface="Calibri" panose="020F0502020204030204" pitchFamily="34" charset="0"/>
              <a:cs typeface="Calibri" panose="020F0502020204030204" pitchFamily="34" charset="0"/>
            </a:endParaRPr>
          </a:p>
          <a:p>
            <a:pPr algn="l"/>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False Positive(FP) </a:t>
            </a:r>
            <a:r>
              <a:rPr lang="en-IN"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(Type I Error)</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Values that are actually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negative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but predicted to be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positive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t>
            </a:r>
          </a:p>
          <a:p>
            <a:pPr algn="l"/>
            <a:endParaRPr lang="en-US" sz="2000" dirty="0">
              <a:solidFill>
                <a:srgbClr val="242424"/>
              </a:solidFill>
              <a:latin typeface="Calibri" panose="020F0502020204030204" pitchFamily="34" charset="0"/>
              <a:ea typeface="Calibri" panose="020F0502020204030204" pitchFamily="34" charset="0"/>
              <a:cs typeface="Calibri" panose="020F0502020204030204" pitchFamily="34" charset="0"/>
            </a:endParaRPr>
          </a:p>
          <a:p>
            <a:pPr algn="l"/>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False Negative(FN)</a:t>
            </a:r>
            <a:r>
              <a:rPr lang="en-IN"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(Type II Error)</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Values that are actually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positive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but predicted to be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negative.</a:t>
            </a:r>
            <a:endPar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endParaRPr>
          </a:p>
          <a:p>
            <a:pPr algn="l"/>
            <a:endPar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True Negative (TN): </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Values that are actually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negative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and predicted to be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negative.</a:t>
            </a:r>
            <a:endPar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7F513F7C-0967-1E1E-0CAE-1F8DC3528AB8}"/>
              </a:ext>
            </a:extLst>
          </p:cNvPr>
          <p:cNvPicPr>
            <a:picLocks noChangeAspect="1"/>
          </p:cNvPicPr>
          <p:nvPr/>
        </p:nvPicPr>
        <p:blipFill>
          <a:blip r:embed="rId2"/>
          <a:stretch>
            <a:fillRect/>
          </a:stretch>
        </p:blipFill>
        <p:spPr>
          <a:xfrm>
            <a:off x="3015273" y="762270"/>
            <a:ext cx="5344185" cy="2475493"/>
          </a:xfrm>
          <a:prstGeom prst="rect">
            <a:avLst/>
          </a:prstGeom>
        </p:spPr>
      </p:pic>
      <p:sp>
        <p:nvSpPr>
          <p:cNvPr id="8" name="TextBox 7">
            <a:extLst>
              <a:ext uri="{FF2B5EF4-FFF2-40B4-BE49-F238E27FC236}">
                <a16:creationId xmlns:a16="http://schemas.microsoft.com/office/drawing/2014/main" id="{5A8599A2-E6B0-5DEF-AE01-E1CCCECFED90}"/>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Confusion Matrix</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074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1DC6DF-A7D9-9980-84F7-A29FB629CBF8}"/>
              </a:ext>
            </a:extLst>
          </p:cNvPr>
          <p:cNvSpPr txBox="1"/>
          <p:nvPr/>
        </p:nvSpPr>
        <p:spPr>
          <a:xfrm>
            <a:off x="1530220" y="1643848"/>
            <a:ext cx="7576458" cy="2677656"/>
          </a:xfrm>
          <a:prstGeom prst="rect">
            <a:avLst/>
          </a:prstGeom>
          <a:noFill/>
        </p:spPr>
        <p:txBody>
          <a:bodyPr wrap="square">
            <a:spAutoFit/>
          </a:bodyPr>
          <a:lstStyle/>
          <a:p>
            <a:pPr algn="l"/>
            <a:r>
              <a:rPr lang="en-IN" sz="2400" b="1" i="0" dirty="0">
                <a:effectLst/>
                <a:latin typeface="Calibri" panose="020F0502020204030204" pitchFamily="34" charset="0"/>
                <a:ea typeface="Calibri" panose="020F0502020204030204" pitchFamily="34" charset="0"/>
                <a:cs typeface="Calibri" panose="020F0502020204030204" pitchFamily="34" charset="0"/>
              </a:rPr>
              <a:t>True Positive Rate(TPR): </a:t>
            </a:r>
            <a:r>
              <a:rPr lang="en-IN" sz="2400" i="0" dirty="0">
                <a:effectLst/>
                <a:latin typeface="Calibri" panose="020F0502020204030204" pitchFamily="34" charset="0"/>
                <a:ea typeface="Calibri" panose="020F0502020204030204" pitchFamily="34" charset="0"/>
                <a:cs typeface="Calibri" panose="020F0502020204030204" pitchFamily="34" charset="0"/>
              </a:rPr>
              <a:t>True Positive/positive</a:t>
            </a:r>
          </a:p>
          <a:p>
            <a:pPr algn="l"/>
            <a:endParaRPr lang="en-IN" sz="240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1" i="0" dirty="0">
                <a:effectLst/>
                <a:latin typeface="Calibri" panose="020F0502020204030204" pitchFamily="34" charset="0"/>
                <a:ea typeface="Calibri" panose="020F0502020204030204" pitchFamily="34" charset="0"/>
                <a:cs typeface="Calibri" panose="020F0502020204030204" pitchFamily="34" charset="0"/>
              </a:rPr>
              <a:t>False Positive Rate(FPR): </a:t>
            </a:r>
            <a:r>
              <a:rPr lang="en-IN" sz="2400" i="0" dirty="0">
                <a:effectLst/>
                <a:latin typeface="Calibri" panose="020F0502020204030204" pitchFamily="34" charset="0"/>
                <a:ea typeface="Calibri" panose="020F0502020204030204" pitchFamily="34" charset="0"/>
                <a:cs typeface="Calibri" panose="020F0502020204030204" pitchFamily="34" charset="0"/>
              </a:rPr>
              <a:t>False Positive /Negative</a:t>
            </a:r>
          </a:p>
          <a:p>
            <a:pPr algn="l"/>
            <a:endParaRPr lang="en-IN" sz="240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1" i="0" dirty="0">
                <a:effectLst/>
                <a:latin typeface="Calibri" panose="020F0502020204030204" pitchFamily="34" charset="0"/>
                <a:ea typeface="Calibri" panose="020F0502020204030204" pitchFamily="34" charset="0"/>
                <a:cs typeface="Calibri" panose="020F0502020204030204" pitchFamily="34" charset="0"/>
              </a:rPr>
              <a:t>False Negative Rate(FNR): </a:t>
            </a:r>
            <a:r>
              <a:rPr lang="en-IN" sz="2400" i="0" dirty="0">
                <a:effectLst/>
                <a:latin typeface="Calibri" panose="020F0502020204030204" pitchFamily="34" charset="0"/>
                <a:ea typeface="Calibri" panose="020F0502020204030204" pitchFamily="34" charset="0"/>
                <a:cs typeface="Calibri" panose="020F0502020204030204" pitchFamily="34" charset="0"/>
              </a:rPr>
              <a:t>False Negative/Positive</a:t>
            </a:r>
          </a:p>
          <a:p>
            <a:pPr algn="l"/>
            <a:endParaRPr lang="en-IN" sz="240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1" i="0" dirty="0">
                <a:effectLst/>
                <a:latin typeface="Calibri" panose="020F0502020204030204" pitchFamily="34" charset="0"/>
                <a:ea typeface="Calibri" panose="020F0502020204030204" pitchFamily="34" charset="0"/>
                <a:cs typeface="Calibri" panose="020F0502020204030204" pitchFamily="34" charset="0"/>
              </a:rPr>
              <a:t>True Negative Rate(TNR): </a:t>
            </a:r>
            <a:r>
              <a:rPr lang="en-IN" sz="2400" i="0" dirty="0">
                <a:effectLst/>
                <a:latin typeface="Calibri" panose="020F0502020204030204" pitchFamily="34" charset="0"/>
                <a:ea typeface="Calibri" panose="020F0502020204030204" pitchFamily="34" charset="0"/>
                <a:cs typeface="Calibri" panose="020F0502020204030204" pitchFamily="34" charset="0"/>
              </a:rPr>
              <a:t>True Negative/Negative</a:t>
            </a:r>
          </a:p>
        </p:txBody>
      </p:sp>
      <p:sp>
        <p:nvSpPr>
          <p:cNvPr id="9" name="TextBox 8">
            <a:extLst>
              <a:ext uri="{FF2B5EF4-FFF2-40B4-BE49-F238E27FC236}">
                <a16:creationId xmlns:a16="http://schemas.microsoft.com/office/drawing/2014/main" id="{3CAB34CB-46B6-E8F2-4C29-B370906E9678}"/>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Confusion Matrix</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096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04850D-061D-9C8B-485F-5F2A0ACD8C85}"/>
              </a:ext>
            </a:extLst>
          </p:cNvPr>
          <p:cNvPicPr>
            <a:picLocks noChangeAspect="1"/>
          </p:cNvPicPr>
          <p:nvPr/>
        </p:nvPicPr>
        <p:blipFill>
          <a:blip r:embed="rId2"/>
          <a:stretch>
            <a:fillRect/>
          </a:stretch>
        </p:blipFill>
        <p:spPr>
          <a:xfrm>
            <a:off x="1117133" y="886429"/>
            <a:ext cx="6477985" cy="2407613"/>
          </a:xfrm>
          <a:prstGeom prst="rect">
            <a:avLst/>
          </a:prstGeom>
        </p:spPr>
      </p:pic>
      <p:sp>
        <p:nvSpPr>
          <p:cNvPr id="5" name="TextBox 4">
            <a:extLst>
              <a:ext uri="{FF2B5EF4-FFF2-40B4-BE49-F238E27FC236}">
                <a16:creationId xmlns:a16="http://schemas.microsoft.com/office/drawing/2014/main" id="{7E05B4BF-2AF2-90E6-8201-41A1AFBF7F7E}"/>
              </a:ext>
            </a:extLst>
          </p:cNvPr>
          <p:cNvSpPr txBox="1"/>
          <p:nvPr/>
        </p:nvSpPr>
        <p:spPr>
          <a:xfrm>
            <a:off x="1182447" y="3304698"/>
            <a:ext cx="8624026" cy="2677656"/>
          </a:xfrm>
          <a:prstGeom prst="rect">
            <a:avLst/>
          </a:prstGeom>
          <a:noFill/>
        </p:spPr>
        <p:txBody>
          <a:bodyPr wrap="square">
            <a:spAutoFit/>
          </a:bodyPr>
          <a:lstStyle/>
          <a:p>
            <a:pPr algn="l"/>
            <a:r>
              <a:rPr lang="en-IN" sz="2400" b="0" i="0" dirty="0">
                <a:effectLst/>
                <a:latin typeface="Calibri" panose="020F0502020204030204" pitchFamily="34" charset="0"/>
                <a:ea typeface="Calibri" panose="020F0502020204030204" pitchFamily="34" charset="0"/>
                <a:cs typeface="Calibri" panose="020F0502020204030204" pitchFamily="34" charset="0"/>
              </a:rPr>
              <a:t>TPR = TP/P = 1770/ (330+1770) = 1770/2100 = 84.28 %</a:t>
            </a:r>
          </a:p>
          <a:p>
            <a:pPr algn="l"/>
            <a:endParaRPr lang="en-IN" sz="24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0" i="0" dirty="0">
                <a:effectLst/>
                <a:latin typeface="Calibri" panose="020F0502020204030204" pitchFamily="34" charset="0"/>
                <a:ea typeface="Calibri" panose="020F0502020204030204" pitchFamily="34" charset="0"/>
                <a:cs typeface="Calibri" panose="020F0502020204030204" pitchFamily="34" charset="0"/>
              </a:rPr>
              <a:t>TNR = TN/N = 97750/ (97750+150) = 97750/ 97900 = 99.84 %</a:t>
            </a:r>
          </a:p>
          <a:p>
            <a:pPr algn="l"/>
            <a:endParaRPr lang="en-IN" sz="24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0" i="0" dirty="0">
                <a:effectLst/>
                <a:latin typeface="Calibri" panose="020F0502020204030204" pitchFamily="34" charset="0"/>
                <a:ea typeface="Calibri" panose="020F0502020204030204" pitchFamily="34" charset="0"/>
                <a:cs typeface="Calibri" panose="020F0502020204030204" pitchFamily="34" charset="0"/>
              </a:rPr>
              <a:t>FPR = FP/N =150/ (97750+150)  = 150/ 97900 = 0.15 %</a:t>
            </a:r>
          </a:p>
          <a:p>
            <a:pPr algn="l"/>
            <a:endParaRPr lang="en-IN" sz="24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IN" sz="2400" b="0" i="0" dirty="0">
                <a:effectLst/>
                <a:latin typeface="Calibri" panose="020F0502020204030204" pitchFamily="34" charset="0"/>
                <a:ea typeface="Calibri" panose="020F0502020204030204" pitchFamily="34" charset="0"/>
                <a:cs typeface="Calibri" panose="020F0502020204030204" pitchFamily="34" charset="0"/>
              </a:rPr>
              <a:t>FNR = FN/P =330/ (330+1770)  = 330/2100 = 15.71 %</a:t>
            </a:r>
          </a:p>
        </p:txBody>
      </p:sp>
      <p:sp>
        <p:nvSpPr>
          <p:cNvPr id="7" name="TextBox 6">
            <a:extLst>
              <a:ext uri="{FF2B5EF4-FFF2-40B4-BE49-F238E27FC236}">
                <a16:creationId xmlns:a16="http://schemas.microsoft.com/office/drawing/2014/main" id="{C092F461-5E6C-E806-2CB6-A332E21593D8}"/>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Confusion Matrix</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7491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6AA75-46C4-40C0-7F33-EB4D95CE9DC4}"/>
              </a:ext>
            </a:extLst>
          </p:cNvPr>
          <p:cNvSpPr txBox="1"/>
          <p:nvPr/>
        </p:nvSpPr>
        <p:spPr>
          <a:xfrm>
            <a:off x="1240088" y="4699909"/>
            <a:ext cx="7184572" cy="1200329"/>
          </a:xfrm>
          <a:prstGeom prst="rect">
            <a:avLst/>
          </a:prstGeom>
          <a:noFill/>
        </p:spPr>
        <p:txBody>
          <a:bodyPr wrap="square">
            <a:spAutoFit/>
          </a:bodyPr>
          <a:lstStyle/>
          <a:p>
            <a:r>
              <a:rPr lang="en-US" sz="2400" b="0" i="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Precision = </a:t>
            </a:r>
            <a:r>
              <a:rPr lang="en-US" sz="2400" b="0" i="0" dirty="0">
                <a:effectLst/>
                <a:latin typeface="Calibri" panose="020F0502020204030204" pitchFamily="34" charset="0"/>
                <a:ea typeface="Calibri" panose="020F0502020204030204" pitchFamily="34" charset="0"/>
                <a:cs typeface="Calibri" panose="020F0502020204030204" pitchFamily="34" charset="0"/>
              </a:rPr>
              <a:t>True Positive/Predicted Positive</a:t>
            </a:r>
          </a:p>
          <a:p>
            <a:endParaRPr lang="en-US" sz="2400" b="0" i="0" dirty="0">
              <a:effectLst/>
              <a:latin typeface="Calibri" panose="020F0502020204030204" pitchFamily="34" charset="0"/>
              <a:ea typeface="Calibri" panose="020F0502020204030204" pitchFamily="34" charset="0"/>
              <a:cs typeface="Calibri" panose="020F0502020204030204" pitchFamily="34" charset="0"/>
            </a:endParaRPr>
          </a:p>
          <a:p>
            <a:r>
              <a:rPr lang="en-US" sz="2400" b="0" i="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Recall = </a:t>
            </a:r>
            <a:r>
              <a:rPr lang="en-US" sz="2400" b="0" i="0" dirty="0">
                <a:effectLst/>
                <a:latin typeface="Calibri" panose="020F0502020204030204" pitchFamily="34" charset="0"/>
                <a:ea typeface="Calibri" panose="020F0502020204030204" pitchFamily="34" charset="0"/>
                <a:cs typeface="Calibri" panose="020F0502020204030204" pitchFamily="34" charset="0"/>
              </a:rPr>
              <a:t>True Positive/ Actual Positive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849CAC1D-FE21-7B43-51FE-0BE1A9FD4763}"/>
              </a:ext>
            </a:extLst>
          </p:cNvPr>
          <p:cNvPicPr>
            <a:picLocks noChangeAspect="1"/>
          </p:cNvPicPr>
          <p:nvPr/>
        </p:nvPicPr>
        <p:blipFill>
          <a:blip r:embed="rId2"/>
          <a:stretch>
            <a:fillRect/>
          </a:stretch>
        </p:blipFill>
        <p:spPr>
          <a:xfrm>
            <a:off x="1240088" y="1061207"/>
            <a:ext cx="6035563" cy="3429297"/>
          </a:xfrm>
          <a:prstGeom prst="rect">
            <a:avLst/>
          </a:prstGeom>
        </p:spPr>
      </p:pic>
      <p:sp>
        <p:nvSpPr>
          <p:cNvPr id="9" name="TextBox 8">
            <a:extLst>
              <a:ext uri="{FF2B5EF4-FFF2-40B4-BE49-F238E27FC236}">
                <a16:creationId xmlns:a16="http://schemas.microsoft.com/office/drawing/2014/main" id="{57243435-3338-FDA8-FC82-BA32B1B02CBC}"/>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Precision and Recall</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98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C7831A-E0C9-41A4-9330-7DF8D0C1BC14}"/>
              </a:ext>
            </a:extLst>
          </p:cNvPr>
          <p:cNvPicPr>
            <a:picLocks noChangeAspect="1"/>
          </p:cNvPicPr>
          <p:nvPr/>
        </p:nvPicPr>
        <p:blipFill>
          <a:blip r:embed="rId2"/>
          <a:stretch>
            <a:fillRect/>
          </a:stretch>
        </p:blipFill>
        <p:spPr>
          <a:xfrm>
            <a:off x="1344341" y="802343"/>
            <a:ext cx="8774542" cy="4252403"/>
          </a:xfrm>
          <a:prstGeom prst="rect">
            <a:avLst/>
          </a:prstGeom>
        </p:spPr>
      </p:pic>
    </p:spTree>
    <p:extLst>
      <p:ext uri="{BB962C8B-B14F-4D97-AF65-F5344CB8AC3E}">
        <p14:creationId xmlns:p14="http://schemas.microsoft.com/office/powerpoint/2010/main" val="2327056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D417BB-3AD6-4DEE-D8BD-5B59C50C7A9C}"/>
              </a:ext>
            </a:extLst>
          </p:cNvPr>
          <p:cNvPicPr>
            <a:picLocks noChangeAspect="1"/>
          </p:cNvPicPr>
          <p:nvPr/>
        </p:nvPicPr>
        <p:blipFill>
          <a:blip r:embed="rId2"/>
          <a:stretch>
            <a:fillRect/>
          </a:stretch>
        </p:blipFill>
        <p:spPr>
          <a:xfrm>
            <a:off x="1646585" y="625294"/>
            <a:ext cx="8448151" cy="2603098"/>
          </a:xfrm>
          <a:prstGeom prst="rect">
            <a:avLst/>
          </a:prstGeom>
        </p:spPr>
      </p:pic>
      <p:pic>
        <p:nvPicPr>
          <p:cNvPr id="11" name="Picture 10">
            <a:extLst>
              <a:ext uri="{FF2B5EF4-FFF2-40B4-BE49-F238E27FC236}">
                <a16:creationId xmlns:a16="http://schemas.microsoft.com/office/drawing/2014/main" id="{F045BA47-F1D1-3645-21EC-5A2D082B0963}"/>
              </a:ext>
            </a:extLst>
          </p:cNvPr>
          <p:cNvPicPr>
            <a:picLocks noChangeAspect="1"/>
          </p:cNvPicPr>
          <p:nvPr/>
        </p:nvPicPr>
        <p:blipFill>
          <a:blip r:embed="rId3"/>
          <a:stretch>
            <a:fillRect/>
          </a:stretch>
        </p:blipFill>
        <p:spPr>
          <a:xfrm>
            <a:off x="1646585" y="3468991"/>
            <a:ext cx="8523782" cy="2763715"/>
          </a:xfrm>
          <a:prstGeom prst="rect">
            <a:avLst/>
          </a:prstGeom>
        </p:spPr>
      </p:pic>
    </p:spTree>
    <p:extLst>
      <p:ext uri="{BB962C8B-B14F-4D97-AF65-F5344CB8AC3E}">
        <p14:creationId xmlns:p14="http://schemas.microsoft.com/office/powerpoint/2010/main" val="3940545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4C54AE-BC8F-B50D-3513-3FBF2E994AB4}"/>
              </a:ext>
            </a:extLst>
          </p:cNvPr>
          <p:cNvPicPr>
            <a:picLocks noChangeAspect="1"/>
          </p:cNvPicPr>
          <p:nvPr/>
        </p:nvPicPr>
        <p:blipFill>
          <a:blip r:embed="rId2"/>
          <a:stretch>
            <a:fillRect/>
          </a:stretch>
        </p:blipFill>
        <p:spPr>
          <a:xfrm>
            <a:off x="1732173" y="874052"/>
            <a:ext cx="8057619" cy="2359004"/>
          </a:xfrm>
          <a:prstGeom prst="rect">
            <a:avLst/>
          </a:prstGeom>
        </p:spPr>
      </p:pic>
      <p:pic>
        <p:nvPicPr>
          <p:cNvPr id="11" name="Picture 10">
            <a:extLst>
              <a:ext uri="{FF2B5EF4-FFF2-40B4-BE49-F238E27FC236}">
                <a16:creationId xmlns:a16="http://schemas.microsoft.com/office/drawing/2014/main" id="{D9C9AF84-DDFC-48B8-D87E-069A383B0C6F}"/>
              </a:ext>
            </a:extLst>
          </p:cNvPr>
          <p:cNvPicPr>
            <a:picLocks noChangeAspect="1"/>
          </p:cNvPicPr>
          <p:nvPr/>
        </p:nvPicPr>
        <p:blipFill>
          <a:blip r:embed="rId3"/>
          <a:stretch>
            <a:fillRect/>
          </a:stretch>
        </p:blipFill>
        <p:spPr>
          <a:xfrm>
            <a:off x="1732173" y="3233056"/>
            <a:ext cx="8214260" cy="2797746"/>
          </a:xfrm>
          <a:prstGeom prst="rect">
            <a:avLst/>
          </a:prstGeom>
        </p:spPr>
      </p:pic>
      <p:sp>
        <p:nvSpPr>
          <p:cNvPr id="12" name="TextBox 11">
            <a:extLst>
              <a:ext uri="{FF2B5EF4-FFF2-40B4-BE49-F238E27FC236}">
                <a16:creationId xmlns:a16="http://schemas.microsoft.com/office/drawing/2014/main" id="{90EF03DF-BA40-0426-FDEE-B4D48380B864}"/>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Recall</a:t>
            </a:r>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7426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F84805-8D01-8E3A-4B2A-B1D77D0D7DEA}"/>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Precision</a:t>
            </a:r>
            <a:endParaRPr lang="en-IN" sz="32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41B03BBC-AC10-DF4E-C5A8-393DC15C9530}"/>
              </a:ext>
            </a:extLst>
          </p:cNvPr>
          <p:cNvPicPr>
            <a:picLocks noChangeAspect="1"/>
          </p:cNvPicPr>
          <p:nvPr/>
        </p:nvPicPr>
        <p:blipFill>
          <a:blip r:embed="rId2"/>
          <a:stretch>
            <a:fillRect/>
          </a:stretch>
        </p:blipFill>
        <p:spPr>
          <a:xfrm>
            <a:off x="1646585" y="813077"/>
            <a:ext cx="8159888" cy="2456535"/>
          </a:xfrm>
          <a:prstGeom prst="rect">
            <a:avLst/>
          </a:prstGeom>
        </p:spPr>
      </p:pic>
      <p:pic>
        <p:nvPicPr>
          <p:cNvPr id="12" name="Picture 11">
            <a:extLst>
              <a:ext uri="{FF2B5EF4-FFF2-40B4-BE49-F238E27FC236}">
                <a16:creationId xmlns:a16="http://schemas.microsoft.com/office/drawing/2014/main" id="{CD3CE0C6-CDA5-3F74-D40F-7A68D2E4126E}"/>
              </a:ext>
            </a:extLst>
          </p:cNvPr>
          <p:cNvPicPr>
            <a:picLocks noChangeAspect="1"/>
          </p:cNvPicPr>
          <p:nvPr/>
        </p:nvPicPr>
        <p:blipFill>
          <a:blip r:embed="rId3"/>
          <a:stretch>
            <a:fillRect/>
          </a:stretch>
        </p:blipFill>
        <p:spPr>
          <a:xfrm>
            <a:off x="1717470" y="3337565"/>
            <a:ext cx="8151624" cy="2531390"/>
          </a:xfrm>
          <a:prstGeom prst="rect">
            <a:avLst/>
          </a:prstGeom>
        </p:spPr>
      </p:pic>
    </p:spTree>
    <p:extLst>
      <p:ext uri="{BB962C8B-B14F-4D97-AF65-F5344CB8AC3E}">
        <p14:creationId xmlns:p14="http://schemas.microsoft.com/office/powerpoint/2010/main" val="1420539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3C0A39-ABD0-47CF-897A-8D8B0AA253F4}"/>
              </a:ext>
            </a:extLst>
          </p:cNvPr>
          <p:cNvPicPr>
            <a:picLocks noChangeAspect="1"/>
          </p:cNvPicPr>
          <p:nvPr/>
        </p:nvPicPr>
        <p:blipFill>
          <a:blip r:embed="rId2"/>
          <a:stretch>
            <a:fillRect/>
          </a:stretch>
        </p:blipFill>
        <p:spPr>
          <a:xfrm>
            <a:off x="1508761" y="777178"/>
            <a:ext cx="6161306" cy="2572512"/>
          </a:xfrm>
          <a:prstGeom prst="rect">
            <a:avLst/>
          </a:prstGeom>
        </p:spPr>
      </p:pic>
    </p:spTree>
    <p:extLst>
      <p:ext uri="{BB962C8B-B14F-4D97-AF65-F5344CB8AC3E}">
        <p14:creationId xmlns:p14="http://schemas.microsoft.com/office/powerpoint/2010/main" val="2269420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A4EE5A-66D8-4C47-AAB7-9A7D5C603C49}"/>
              </a:ext>
            </a:extLst>
          </p:cNvPr>
          <p:cNvPicPr>
            <a:picLocks noChangeAspect="1"/>
          </p:cNvPicPr>
          <p:nvPr/>
        </p:nvPicPr>
        <p:blipFill>
          <a:blip r:embed="rId2"/>
          <a:stretch>
            <a:fillRect/>
          </a:stretch>
        </p:blipFill>
        <p:spPr>
          <a:xfrm>
            <a:off x="1473693" y="577048"/>
            <a:ext cx="8951450" cy="5703903"/>
          </a:xfrm>
          <a:prstGeom prst="rect">
            <a:avLst/>
          </a:prstGeom>
        </p:spPr>
      </p:pic>
    </p:spTree>
    <p:extLst>
      <p:ext uri="{BB962C8B-B14F-4D97-AF65-F5344CB8AC3E}">
        <p14:creationId xmlns:p14="http://schemas.microsoft.com/office/powerpoint/2010/main" val="2105168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DACDBD-D68A-4172-BE50-AEECC87DEE99}"/>
              </a:ext>
            </a:extLst>
          </p:cNvPr>
          <p:cNvPicPr>
            <a:picLocks noChangeAspect="1"/>
          </p:cNvPicPr>
          <p:nvPr/>
        </p:nvPicPr>
        <p:blipFill>
          <a:blip r:embed="rId2"/>
          <a:stretch>
            <a:fillRect/>
          </a:stretch>
        </p:blipFill>
        <p:spPr>
          <a:xfrm>
            <a:off x="866313" y="490537"/>
            <a:ext cx="10210800" cy="5876925"/>
          </a:xfrm>
          <a:prstGeom prst="rect">
            <a:avLst/>
          </a:prstGeom>
        </p:spPr>
      </p:pic>
    </p:spTree>
    <p:extLst>
      <p:ext uri="{BB962C8B-B14F-4D97-AF65-F5344CB8AC3E}">
        <p14:creationId xmlns:p14="http://schemas.microsoft.com/office/powerpoint/2010/main" val="3159367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5645D0-8F31-4287-A72F-BB405CD9781E}"/>
              </a:ext>
            </a:extLst>
          </p:cNvPr>
          <p:cNvPicPr>
            <a:picLocks noChangeAspect="1"/>
          </p:cNvPicPr>
          <p:nvPr/>
        </p:nvPicPr>
        <p:blipFill>
          <a:blip r:embed="rId2"/>
          <a:stretch>
            <a:fillRect/>
          </a:stretch>
        </p:blipFill>
        <p:spPr>
          <a:xfrm>
            <a:off x="1402672" y="532660"/>
            <a:ext cx="9192337" cy="5792679"/>
          </a:xfrm>
          <a:prstGeom prst="rect">
            <a:avLst/>
          </a:prstGeom>
        </p:spPr>
      </p:pic>
    </p:spTree>
    <p:extLst>
      <p:ext uri="{BB962C8B-B14F-4D97-AF65-F5344CB8AC3E}">
        <p14:creationId xmlns:p14="http://schemas.microsoft.com/office/powerpoint/2010/main" val="1400353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3C7A8E-1B43-48ED-B727-1B503B97EC15}"/>
              </a:ext>
            </a:extLst>
          </p:cNvPr>
          <p:cNvPicPr>
            <a:picLocks noChangeAspect="1"/>
          </p:cNvPicPr>
          <p:nvPr/>
        </p:nvPicPr>
        <p:blipFill>
          <a:blip r:embed="rId2"/>
          <a:stretch>
            <a:fillRect/>
          </a:stretch>
        </p:blipFill>
        <p:spPr>
          <a:xfrm>
            <a:off x="1160094" y="603681"/>
            <a:ext cx="9552214" cy="5650637"/>
          </a:xfrm>
          <a:prstGeom prst="rect">
            <a:avLst/>
          </a:prstGeom>
        </p:spPr>
      </p:pic>
    </p:spTree>
    <p:extLst>
      <p:ext uri="{BB962C8B-B14F-4D97-AF65-F5344CB8AC3E}">
        <p14:creationId xmlns:p14="http://schemas.microsoft.com/office/powerpoint/2010/main" val="3954905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5B34A2-3222-487D-9096-0A288E129814}"/>
              </a:ext>
            </a:extLst>
          </p:cNvPr>
          <p:cNvPicPr>
            <a:picLocks noChangeAspect="1"/>
          </p:cNvPicPr>
          <p:nvPr/>
        </p:nvPicPr>
        <p:blipFill>
          <a:blip r:embed="rId2"/>
          <a:stretch>
            <a:fillRect/>
          </a:stretch>
        </p:blipFill>
        <p:spPr>
          <a:xfrm>
            <a:off x="1721620" y="287877"/>
            <a:ext cx="7138295" cy="3141123"/>
          </a:xfrm>
          <a:prstGeom prst="rect">
            <a:avLst/>
          </a:prstGeom>
        </p:spPr>
      </p:pic>
      <p:pic>
        <p:nvPicPr>
          <p:cNvPr id="5" name="Picture 4">
            <a:extLst>
              <a:ext uri="{FF2B5EF4-FFF2-40B4-BE49-F238E27FC236}">
                <a16:creationId xmlns:a16="http://schemas.microsoft.com/office/drawing/2014/main" id="{FC7371A5-CE75-48F6-9718-48D483279893}"/>
              </a:ext>
            </a:extLst>
          </p:cNvPr>
          <p:cNvPicPr>
            <a:picLocks noChangeAspect="1"/>
          </p:cNvPicPr>
          <p:nvPr/>
        </p:nvPicPr>
        <p:blipFill>
          <a:blip r:embed="rId3"/>
          <a:stretch>
            <a:fillRect/>
          </a:stretch>
        </p:blipFill>
        <p:spPr>
          <a:xfrm>
            <a:off x="2317072" y="3537474"/>
            <a:ext cx="6116714" cy="2724150"/>
          </a:xfrm>
          <a:prstGeom prst="rect">
            <a:avLst/>
          </a:prstGeom>
        </p:spPr>
      </p:pic>
    </p:spTree>
    <p:extLst>
      <p:ext uri="{BB962C8B-B14F-4D97-AF65-F5344CB8AC3E}">
        <p14:creationId xmlns:p14="http://schemas.microsoft.com/office/powerpoint/2010/main" val="3293774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4812BF-F3E4-49AA-8C1B-176BE36AEBF9}"/>
              </a:ext>
            </a:extLst>
          </p:cNvPr>
          <p:cNvPicPr>
            <a:picLocks noChangeAspect="1"/>
          </p:cNvPicPr>
          <p:nvPr/>
        </p:nvPicPr>
        <p:blipFill>
          <a:blip r:embed="rId2"/>
          <a:stretch>
            <a:fillRect/>
          </a:stretch>
        </p:blipFill>
        <p:spPr>
          <a:xfrm>
            <a:off x="1260305" y="514627"/>
            <a:ext cx="7629525" cy="857250"/>
          </a:xfrm>
          <a:prstGeom prst="rect">
            <a:avLst/>
          </a:prstGeom>
        </p:spPr>
      </p:pic>
      <p:pic>
        <p:nvPicPr>
          <p:cNvPr id="3" name="Picture 2">
            <a:extLst>
              <a:ext uri="{FF2B5EF4-FFF2-40B4-BE49-F238E27FC236}">
                <a16:creationId xmlns:a16="http://schemas.microsoft.com/office/drawing/2014/main" id="{75BCF1D6-9431-4CAA-8683-C4710D1FDB67}"/>
              </a:ext>
            </a:extLst>
          </p:cNvPr>
          <p:cNvPicPr>
            <a:picLocks noChangeAspect="1"/>
          </p:cNvPicPr>
          <p:nvPr/>
        </p:nvPicPr>
        <p:blipFill>
          <a:blip r:embed="rId3"/>
          <a:stretch>
            <a:fillRect/>
          </a:stretch>
        </p:blipFill>
        <p:spPr>
          <a:xfrm>
            <a:off x="1260305" y="1371877"/>
            <a:ext cx="7629525" cy="2628900"/>
          </a:xfrm>
          <a:prstGeom prst="rect">
            <a:avLst/>
          </a:prstGeom>
        </p:spPr>
      </p:pic>
    </p:spTree>
    <p:extLst>
      <p:ext uri="{BB962C8B-B14F-4D97-AF65-F5344CB8AC3E}">
        <p14:creationId xmlns:p14="http://schemas.microsoft.com/office/powerpoint/2010/main" val="4250712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C0C95D-6378-4B62-B035-0465BC709100}"/>
              </a:ext>
            </a:extLst>
          </p:cNvPr>
          <p:cNvSpPr txBox="1"/>
          <p:nvPr/>
        </p:nvSpPr>
        <p:spPr>
          <a:xfrm>
            <a:off x="1029809" y="319596"/>
            <a:ext cx="7972147" cy="523220"/>
          </a:xfrm>
          <a:prstGeom prst="rect">
            <a:avLst/>
          </a:prstGeom>
          <a:noFill/>
        </p:spPr>
        <p:txBody>
          <a:bodyPr wrap="square" rtlCol="0">
            <a:spAutoFit/>
          </a:bodyPr>
          <a:lstStyle/>
          <a:p>
            <a:r>
              <a:rPr lang="en-IN" sz="2800" b="1" dirty="0"/>
              <a:t>Macro-F1: M</a:t>
            </a:r>
            <a:r>
              <a:rPr lang="en-IN" sz="2800" dirty="0"/>
              <a:t>ean of our per-class F1-scores</a:t>
            </a:r>
          </a:p>
        </p:txBody>
      </p:sp>
      <p:pic>
        <p:nvPicPr>
          <p:cNvPr id="3" name="Picture 2">
            <a:extLst>
              <a:ext uri="{FF2B5EF4-FFF2-40B4-BE49-F238E27FC236}">
                <a16:creationId xmlns:a16="http://schemas.microsoft.com/office/drawing/2014/main" id="{B5078B8D-3DA4-4C8F-A2A3-CE015E9C4838}"/>
              </a:ext>
            </a:extLst>
          </p:cNvPr>
          <p:cNvPicPr>
            <a:picLocks noChangeAspect="1"/>
          </p:cNvPicPr>
          <p:nvPr/>
        </p:nvPicPr>
        <p:blipFill>
          <a:blip r:embed="rId2"/>
          <a:stretch>
            <a:fillRect/>
          </a:stretch>
        </p:blipFill>
        <p:spPr>
          <a:xfrm>
            <a:off x="999570" y="842816"/>
            <a:ext cx="7629525" cy="2628900"/>
          </a:xfrm>
          <a:prstGeom prst="rect">
            <a:avLst/>
          </a:prstGeom>
        </p:spPr>
      </p:pic>
      <p:pic>
        <p:nvPicPr>
          <p:cNvPr id="4" name="Picture 3">
            <a:extLst>
              <a:ext uri="{FF2B5EF4-FFF2-40B4-BE49-F238E27FC236}">
                <a16:creationId xmlns:a16="http://schemas.microsoft.com/office/drawing/2014/main" id="{66780482-30FB-4A5D-BF9A-A39626067FCB}"/>
              </a:ext>
            </a:extLst>
          </p:cNvPr>
          <p:cNvPicPr>
            <a:picLocks noChangeAspect="1"/>
          </p:cNvPicPr>
          <p:nvPr/>
        </p:nvPicPr>
        <p:blipFill>
          <a:blip r:embed="rId3"/>
          <a:stretch>
            <a:fillRect/>
          </a:stretch>
        </p:blipFill>
        <p:spPr>
          <a:xfrm>
            <a:off x="1029809" y="3586440"/>
            <a:ext cx="7697264" cy="666750"/>
          </a:xfrm>
          <a:prstGeom prst="rect">
            <a:avLst/>
          </a:prstGeom>
        </p:spPr>
      </p:pic>
      <p:pic>
        <p:nvPicPr>
          <p:cNvPr id="5" name="Picture 4">
            <a:extLst>
              <a:ext uri="{FF2B5EF4-FFF2-40B4-BE49-F238E27FC236}">
                <a16:creationId xmlns:a16="http://schemas.microsoft.com/office/drawing/2014/main" id="{C3BA67D0-B056-4D5B-9346-1B9A790E17B3}"/>
              </a:ext>
            </a:extLst>
          </p:cNvPr>
          <p:cNvPicPr>
            <a:picLocks noChangeAspect="1"/>
          </p:cNvPicPr>
          <p:nvPr/>
        </p:nvPicPr>
        <p:blipFill>
          <a:blip r:embed="rId4"/>
          <a:stretch>
            <a:fillRect/>
          </a:stretch>
        </p:blipFill>
        <p:spPr>
          <a:xfrm>
            <a:off x="1029809" y="4253190"/>
            <a:ext cx="7697264" cy="1390650"/>
          </a:xfrm>
          <a:prstGeom prst="rect">
            <a:avLst/>
          </a:prstGeom>
        </p:spPr>
      </p:pic>
    </p:spTree>
    <p:extLst>
      <p:ext uri="{BB962C8B-B14F-4D97-AF65-F5344CB8AC3E}">
        <p14:creationId xmlns:p14="http://schemas.microsoft.com/office/powerpoint/2010/main" val="1516346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F4F1C2-3912-4053-9AE3-F33D55018ADF}"/>
              </a:ext>
            </a:extLst>
          </p:cNvPr>
          <p:cNvSpPr txBox="1"/>
          <p:nvPr/>
        </p:nvSpPr>
        <p:spPr>
          <a:xfrm>
            <a:off x="426128" y="479395"/>
            <a:ext cx="7332955" cy="1569660"/>
          </a:xfrm>
          <a:prstGeom prst="rect">
            <a:avLst/>
          </a:prstGeom>
          <a:noFill/>
        </p:spPr>
        <p:txBody>
          <a:bodyPr wrap="square" rtlCol="0">
            <a:spAutoFit/>
          </a:bodyPr>
          <a:lstStyle/>
          <a:p>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Weighted-average F1-score: </a:t>
            </a:r>
            <a:r>
              <a:rPr lang="en-IN" sz="2400" dirty="0">
                <a:latin typeface="Calibri" panose="020F0502020204030204" pitchFamily="34" charset="0"/>
                <a:ea typeface="Calibri" panose="020F0502020204030204" pitchFamily="34" charset="0"/>
                <a:cs typeface="Calibri" panose="020F0502020204030204" pitchFamily="34" charset="0"/>
              </a:rPr>
              <a:t>weight the F1-score of each class by the number of samples from that class. In our case, we have a total of 25 samples: 6 Cat, 10 Fish, and 9 Hen. The weighted-F1 score is thus computed as follows:</a:t>
            </a:r>
          </a:p>
        </p:txBody>
      </p:sp>
      <p:pic>
        <p:nvPicPr>
          <p:cNvPr id="3" name="Picture 2">
            <a:extLst>
              <a:ext uri="{FF2B5EF4-FFF2-40B4-BE49-F238E27FC236}">
                <a16:creationId xmlns:a16="http://schemas.microsoft.com/office/drawing/2014/main" id="{BA06B4A1-5CB5-4BBD-8CAD-99992A3F819E}"/>
              </a:ext>
            </a:extLst>
          </p:cNvPr>
          <p:cNvPicPr>
            <a:picLocks noChangeAspect="1"/>
          </p:cNvPicPr>
          <p:nvPr/>
        </p:nvPicPr>
        <p:blipFill>
          <a:blip r:embed="rId2"/>
          <a:stretch>
            <a:fillRect/>
          </a:stretch>
        </p:blipFill>
        <p:spPr>
          <a:xfrm>
            <a:off x="7907415" y="479395"/>
            <a:ext cx="4151421" cy="1839481"/>
          </a:xfrm>
          <a:prstGeom prst="rect">
            <a:avLst/>
          </a:prstGeom>
        </p:spPr>
      </p:pic>
      <p:pic>
        <p:nvPicPr>
          <p:cNvPr id="4" name="Picture 3">
            <a:extLst>
              <a:ext uri="{FF2B5EF4-FFF2-40B4-BE49-F238E27FC236}">
                <a16:creationId xmlns:a16="http://schemas.microsoft.com/office/drawing/2014/main" id="{682D85AC-86EC-41A3-944B-F3C412FACEDF}"/>
              </a:ext>
            </a:extLst>
          </p:cNvPr>
          <p:cNvPicPr>
            <a:picLocks noChangeAspect="1"/>
          </p:cNvPicPr>
          <p:nvPr/>
        </p:nvPicPr>
        <p:blipFill>
          <a:blip r:embed="rId3"/>
          <a:stretch>
            <a:fillRect/>
          </a:stretch>
        </p:blipFill>
        <p:spPr>
          <a:xfrm>
            <a:off x="426128" y="2524587"/>
            <a:ext cx="9201150" cy="4029075"/>
          </a:xfrm>
          <a:prstGeom prst="rect">
            <a:avLst/>
          </a:prstGeom>
        </p:spPr>
      </p:pic>
    </p:spTree>
    <p:extLst>
      <p:ext uri="{BB962C8B-B14F-4D97-AF65-F5344CB8AC3E}">
        <p14:creationId xmlns:p14="http://schemas.microsoft.com/office/powerpoint/2010/main" val="1258795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1498-DA8F-86CB-A0EE-3DB382013812}"/>
              </a:ext>
            </a:extLst>
          </p:cNvPr>
          <p:cNvSpPr>
            <a:spLocks noGrp="1"/>
          </p:cNvSpPr>
          <p:nvPr>
            <p:ph type="title"/>
          </p:nvPr>
        </p:nvSpPr>
        <p:spPr>
          <a:xfrm>
            <a:off x="1027874" y="2322576"/>
            <a:ext cx="9916934" cy="1901952"/>
          </a:xfrm>
        </p:spPr>
        <p:txBody>
          <a:bodyPr/>
          <a:lstStyle/>
          <a:p>
            <a:r>
              <a:rPr lang="en-IN" b="1" i="0" dirty="0">
                <a:solidFill>
                  <a:srgbClr val="202124"/>
                </a:solidFill>
                <a:effectLst/>
                <a:latin typeface="Google Sans"/>
              </a:rPr>
              <a:t>Receiver Operating Characteristic (ROC)</a:t>
            </a:r>
            <a:br>
              <a:rPr lang="en-IN" b="1" i="0" dirty="0">
                <a:solidFill>
                  <a:srgbClr val="202124"/>
                </a:solidFill>
                <a:effectLst/>
                <a:latin typeface="Google Sans"/>
              </a:rPr>
            </a:br>
            <a:r>
              <a:rPr lang="en-IN" b="1" i="0" dirty="0">
                <a:solidFill>
                  <a:srgbClr val="202124"/>
                </a:solidFill>
                <a:effectLst/>
                <a:latin typeface="Google Sans"/>
              </a:rPr>
              <a:t>	 </a:t>
            </a:r>
            <a:r>
              <a:rPr lang="en-IN" b="1" i="0" dirty="0">
                <a:solidFill>
                  <a:srgbClr val="040C28"/>
                </a:solidFill>
                <a:effectLst/>
                <a:latin typeface="Google Sans"/>
              </a:rPr>
              <a:t>Area Under the Curve (AUC)</a:t>
            </a:r>
            <a:endParaRPr lang="en-IN" b="1" dirty="0">
              <a:latin typeface="Arial Rounded MT Bold" panose="020F0704030504030204" pitchFamily="34" charset="0"/>
            </a:endParaRPr>
          </a:p>
        </p:txBody>
      </p:sp>
      <p:sp>
        <p:nvSpPr>
          <p:cNvPr id="4" name="Text Placeholder 3">
            <a:extLst>
              <a:ext uri="{FF2B5EF4-FFF2-40B4-BE49-F238E27FC236}">
                <a16:creationId xmlns:a16="http://schemas.microsoft.com/office/drawing/2014/main" id="{233BC5B3-3977-012E-E7FE-F46AD8F7E399}"/>
              </a:ext>
            </a:extLst>
          </p:cNvPr>
          <p:cNvSpPr>
            <a:spLocks noGrp="1"/>
          </p:cNvSpPr>
          <p:nvPr>
            <p:ph type="body" sz="quarter" idx="14"/>
          </p:nvPr>
        </p:nvSpPr>
        <p:spPr/>
        <p:txBody>
          <a:bodyPr/>
          <a:lstStyle/>
          <a:p>
            <a:endParaRPr lang="en-IN" dirty="0"/>
          </a:p>
        </p:txBody>
      </p:sp>
      <p:sp>
        <p:nvSpPr>
          <p:cNvPr id="5" name="Text Placeholder 4">
            <a:extLst>
              <a:ext uri="{FF2B5EF4-FFF2-40B4-BE49-F238E27FC236}">
                <a16:creationId xmlns:a16="http://schemas.microsoft.com/office/drawing/2014/main" id="{E391707F-5BDB-0D97-D0BF-7E6D65544EE0}"/>
              </a:ext>
            </a:extLst>
          </p:cNvPr>
          <p:cNvSpPr>
            <a:spLocks noGrp="1"/>
          </p:cNvSpPr>
          <p:nvPr>
            <p:ph type="body" sz="quarter" idx="15"/>
          </p:nvPr>
        </p:nvSpPr>
        <p:spPr/>
        <p:txBody>
          <a:bodyPr/>
          <a:lstStyle/>
          <a:p>
            <a:endParaRPr lang="en-IN" dirty="0"/>
          </a:p>
        </p:txBody>
      </p:sp>
    </p:spTree>
    <p:extLst>
      <p:ext uri="{BB962C8B-B14F-4D97-AF65-F5344CB8AC3E}">
        <p14:creationId xmlns:p14="http://schemas.microsoft.com/office/powerpoint/2010/main" val="2518729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D4A7A6-F500-DA8A-A59F-B2669574C923}"/>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AUC-ROC Curve</a:t>
            </a:r>
            <a:endParaRPr lang="en-IN" sz="3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8CB550F-04C5-1BFE-4B77-1A04857305B1}"/>
              </a:ext>
            </a:extLst>
          </p:cNvPr>
          <p:cNvSpPr txBox="1"/>
          <p:nvPr/>
        </p:nvSpPr>
        <p:spPr>
          <a:xfrm>
            <a:off x="867746" y="847827"/>
            <a:ext cx="10282335" cy="4708981"/>
          </a:xfrm>
          <a:prstGeom prst="rect">
            <a:avLst/>
          </a:prstGeom>
          <a:noFill/>
        </p:spPr>
        <p:txBody>
          <a:bodyPr wrap="square">
            <a:spAutoFit/>
          </a:bodyPr>
          <a:lstStyle/>
          <a:p>
            <a:pPr algn="l" fontAlgn="base">
              <a:buFont typeface="Arial" panose="020B0604020202020204" pitchFamily="34" charset="0"/>
              <a:buChar char="•"/>
            </a:pPr>
            <a:endParaRPr lang="en-US" sz="2000"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fontAlgn="base"/>
            <a:r>
              <a:rPr lang="en-US" sz="2000" b="1"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ROC </a:t>
            </a:r>
            <a:r>
              <a:rPr lang="en-US" sz="2000"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(Receiver Operating Characteristics) </a:t>
            </a:r>
            <a:r>
              <a:rPr lang="en-US" sz="2000" b="1"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Curve</a:t>
            </a:r>
          </a:p>
          <a:p>
            <a:pPr fontAlgn="base"/>
            <a:endPar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ROC stands for Receiver Operating Characteristics, and the ROC curve is the graphical representation of the effectiveness of the binary classification model. It plots the true positive rate (TPR) vs the false positive rate (FPR) at different classification thresholds.</a:t>
            </a:r>
          </a:p>
          <a:p>
            <a:pPr algn="l" fontAlgn="base"/>
            <a:endParaRPr lang="en-US" sz="2000"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fontAlgn="base"/>
            <a:r>
              <a:rPr lang="en-US" sz="2000" b="1"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AUC </a:t>
            </a:r>
            <a:r>
              <a:rPr lang="en-US" sz="2000"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(Area Under Curve) </a:t>
            </a:r>
            <a:r>
              <a:rPr lang="en-US" sz="2000" b="1" i="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Curve</a:t>
            </a:r>
          </a:p>
          <a:p>
            <a:pPr fontAlgn="base"/>
            <a:endParaRPr lang="en-US" sz="2000" b="1" i="0" dirty="0">
              <a:solidFill>
                <a:srgbClr val="0070C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AUC stands for Area Under the Curve, and the AUC curve represents the area under the ROC curve. It measures the overall performance of the binary classification model. As both TPR and FPR range between 0 to 1, So, the area will always lie between 0 and 1, and A greater value of AUC denotes better model performance</a:t>
            </a:r>
            <a:r>
              <a:rPr lang="en-US" sz="2000" i="0" dirty="0">
                <a:solidFill>
                  <a:srgbClr val="273239"/>
                </a:solidFill>
                <a:effectLst/>
                <a:highlight>
                  <a:srgbClr val="ECC4BF"/>
                </a:highlight>
                <a:latin typeface="Calibri" panose="020F0502020204030204" pitchFamily="34" charset="0"/>
                <a:ea typeface="Calibri" panose="020F0502020204030204" pitchFamily="34" charset="0"/>
                <a:cs typeface="Calibri" panose="020F0502020204030204" pitchFamily="34" charset="0"/>
              </a:rPr>
              <a:t>. </a:t>
            </a:r>
            <a:r>
              <a:rPr lang="en-US" sz="2000" i="0" dirty="0">
                <a:solidFill>
                  <a:srgbClr val="7030A0"/>
                </a:solidFill>
                <a:effectLst/>
                <a:highlight>
                  <a:srgbClr val="ECC4BF"/>
                </a:highlight>
                <a:latin typeface="Calibri" panose="020F0502020204030204" pitchFamily="34" charset="0"/>
                <a:ea typeface="Calibri" panose="020F0502020204030204" pitchFamily="34" charset="0"/>
                <a:cs typeface="Calibri" panose="020F0502020204030204" pitchFamily="34" charset="0"/>
              </a:rPr>
              <a:t>Our main goal is to maximize this area in order to have the highest TPR and lowest FPR at the given threshold</a:t>
            </a:r>
            <a:endParaRPr lang="en-US" sz="2000" b="0" i="0" dirty="0">
              <a:solidFill>
                <a:srgbClr val="7030A0"/>
              </a:solidFill>
              <a:effectLst/>
              <a:highlight>
                <a:srgbClr val="ECC4BF"/>
              </a:highlight>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endPar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8072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D4A7A6-F500-DA8A-A59F-B2669574C923}"/>
              </a:ext>
            </a:extLst>
          </p:cNvPr>
          <p:cNvSpPr txBox="1"/>
          <p:nvPr/>
        </p:nvSpPr>
        <p:spPr>
          <a:xfrm>
            <a:off x="1107975" y="160349"/>
            <a:ext cx="8528179" cy="584775"/>
          </a:xfrm>
          <a:prstGeom prst="rect">
            <a:avLst/>
          </a:prstGeom>
          <a:noFill/>
        </p:spPr>
        <p:txBody>
          <a:bodyPr wrap="square" rtlCol="0">
            <a:spAutoFit/>
          </a:bodyPr>
          <a:lstStyle/>
          <a:p>
            <a:pPr algn="ctr"/>
            <a:r>
              <a:rPr lang="en-IN" sz="3200" b="1" i="0" dirty="0">
                <a:solidFill>
                  <a:srgbClr val="273239"/>
                </a:solidFill>
                <a:effectLst/>
                <a:latin typeface="Source Sans 3"/>
              </a:rPr>
              <a:t>AUC-ROC Curve</a:t>
            </a:r>
            <a:endParaRPr lang="en-IN" sz="32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55067C7-731E-FD8F-3BAD-4050CCF31E5C}"/>
              </a:ext>
            </a:extLst>
          </p:cNvPr>
          <p:cNvPicPr>
            <a:picLocks noChangeAspect="1"/>
          </p:cNvPicPr>
          <p:nvPr/>
        </p:nvPicPr>
        <p:blipFill>
          <a:blip r:embed="rId2"/>
          <a:stretch>
            <a:fillRect/>
          </a:stretch>
        </p:blipFill>
        <p:spPr>
          <a:xfrm>
            <a:off x="378438" y="1837759"/>
            <a:ext cx="5465777" cy="4293407"/>
          </a:xfrm>
          <a:prstGeom prst="rect">
            <a:avLst/>
          </a:prstGeom>
        </p:spPr>
      </p:pic>
      <p:sp>
        <p:nvSpPr>
          <p:cNvPr id="9" name="TextBox 8">
            <a:extLst>
              <a:ext uri="{FF2B5EF4-FFF2-40B4-BE49-F238E27FC236}">
                <a16:creationId xmlns:a16="http://schemas.microsoft.com/office/drawing/2014/main" id="{431FF3EF-1680-1139-495C-0E441AB231CC}"/>
              </a:ext>
            </a:extLst>
          </p:cNvPr>
          <p:cNvSpPr txBox="1"/>
          <p:nvPr/>
        </p:nvSpPr>
        <p:spPr>
          <a:xfrm>
            <a:off x="5924939" y="1996380"/>
            <a:ext cx="5888623" cy="4093428"/>
          </a:xfrm>
          <a:prstGeom prst="rect">
            <a:avLst/>
          </a:prstGeom>
          <a:noFill/>
        </p:spPr>
        <p:txBody>
          <a:bodyPr wrap="square">
            <a:spAutoFit/>
          </a:bodyPr>
          <a:lstStyle/>
          <a:p>
            <a:pPr algn="l">
              <a:buFont typeface="Arial" panose="020B0604020202020204" pitchFamily="34" charset="0"/>
              <a:buChar char="•"/>
            </a:pPr>
            <a:r>
              <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An AUROC of 0.5 (area under the red dashed line in the figure above) corresponds to a coin flip, i.e. a useless model.</a:t>
            </a:r>
          </a:p>
          <a:p>
            <a:pPr algn="l"/>
            <a:endPar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An AUROC less than 0.7 is sub-optimal performance.</a:t>
            </a:r>
          </a:p>
          <a:p>
            <a:pPr algn="l"/>
            <a:endPar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An AUROC of 0.70 – 0.80 is a good performance.</a:t>
            </a:r>
          </a:p>
          <a:p>
            <a:pPr algn="l"/>
            <a:endPar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An AUROC greater than 0.8 is an excellent performance.</a:t>
            </a:r>
          </a:p>
          <a:p>
            <a:pPr algn="l"/>
            <a:endPar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An AUROC of 1.0 (area under the purple line in the figure above) corresponds to a perfect classifier</a:t>
            </a:r>
          </a:p>
        </p:txBody>
      </p:sp>
      <p:sp>
        <p:nvSpPr>
          <p:cNvPr id="11" name="TextBox 10">
            <a:extLst>
              <a:ext uri="{FF2B5EF4-FFF2-40B4-BE49-F238E27FC236}">
                <a16:creationId xmlns:a16="http://schemas.microsoft.com/office/drawing/2014/main" id="{2C0EBAAB-7C71-8ADD-079A-D13D1CF77450}"/>
              </a:ext>
            </a:extLst>
          </p:cNvPr>
          <p:cNvSpPr txBox="1"/>
          <p:nvPr/>
        </p:nvSpPr>
        <p:spPr>
          <a:xfrm>
            <a:off x="587828" y="777077"/>
            <a:ext cx="9871788" cy="830997"/>
          </a:xfrm>
          <a:prstGeom prst="rect">
            <a:avLst/>
          </a:prstGeom>
          <a:noFill/>
        </p:spPr>
        <p:txBody>
          <a:bodyPr wrap="square">
            <a:spAutoFit/>
          </a:bodyPr>
          <a:lstStyle/>
          <a:p>
            <a:r>
              <a:rPr lang="en-US" sz="24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rPr>
              <a:t>The AUROC for a given curve is simply the area beneath it. </a:t>
            </a:r>
            <a:r>
              <a:rPr lang="en-US" sz="2400" b="0" i="0" dirty="0">
                <a:solidFill>
                  <a:srgbClr val="7030A0"/>
                </a:solidFill>
                <a:effectLst/>
                <a:latin typeface="Calibri" panose="020F0502020204030204" pitchFamily="34" charset="0"/>
                <a:ea typeface="Calibri" panose="020F0502020204030204" pitchFamily="34" charset="0"/>
                <a:cs typeface="Calibri" panose="020F0502020204030204" pitchFamily="34" charset="0"/>
              </a:rPr>
              <a:t>The worst AUROC is 0.5, and the best AUROC is 1.0.</a:t>
            </a:r>
            <a:endParaRPr lang="en-US" sz="2400" b="0" i="0" dirty="0">
              <a:solidFill>
                <a:srgbClr val="11111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7781174"/>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3.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{0CBD495F-6F60-4A28-86A3-313002760B2E}tf11429527_win32</Template>
  <TotalTime>550</TotalTime>
  <Words>867</Words>
  <Application>Microsoft Office PowerPoint</Application>
  <PresentationFormat>Widescreen</PresentationFormat>
  <Paragraphs>94</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Arial Rounded MT Bold</vt:lpstr>
      <vt:lpstr>Calibri</vt:lpstr>
      <vt:lpstr>Century Gothic</vt:lpstr>
      <vt:lpstr>Google Sans</vt:lpstr>
      <vt:lpstr>inter-regular</vt:lpstr>
      <vt:lpstr>Karla</vt:lpstr>
      <vt:lpstr>Source Sans 3</vt:lpstr>
      <vt:lpstr>Univers Condensed Light</vt:lpstr>
      <vt:lpstr>Office Theme</vt:lpstr>
      <vt:lpstr>KNN Classification</vt:lpstr>
      <vt:lpstr>PowerPoint Presentation</vt:lpstr>
      <vt:lpstr>PowerPoint Presentation</vt:lpstr>
      <vt:lpstr>PowerPoint Presentation</vt:lpstr>
      <vt:lpstr>PowerPoint Presentation</vt:lpstr>
      <vt:lpstr>PowerPoint Presentation</vt:lpstr>
      <vt:lpstr>PowerPoint Presentation</vt:lpstr>
      <vt:lpstr>ACCURACY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Receiver Operating Characteristic (ROC)   Area Under the Curve (AUC)</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 </dc:title>
  <dc:creator>Noble Xavier</dc:creator>
  <cp:lastModifiedBy>Noble Xavier</cp:lastModifiedBy>
  <cp:revision>100</cp:revision>
  <dcterms:created xsi:type="dcterms:W3CDTF">2023-08-11T17:08:08Z</dcterms:created>
  <dcterms:modified xsi:type="dcterms:W3CDTF">2023-08-15T09:00:31Z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