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84" r:id="rId5"/>
    <p:sldId id="300" r:id="rId6"/>
    <p:sldId id="407" r:id="rId7"/>
    <p:sldId id="408" r:id="rId8"/>
    <p:sldId id="409" r:id="rId9"/>
    <p:sldId id="333" r:id="rId10"/>
    <p:sldId id="335" r:id="rId11"/>
    <p:sldId id="336" r:id="rId12"/>
    <p:sldId id="410" r:id="rId13"/>
    <p:sldId id="411" r:id="rId14"/>
    <p:sldId id="338" r:id="rId15"/>
    <p:sldId id="339" r:id="rId16"/>
    <p:sldId id="340" r:id="rId17"/>
    <p:sldId id="342" r:id="rId18"/>
    <p:sldId id="343" r:id="rId19"/>
    <p:sldId id="344" r:id="rId20"/>
    <p:sldId id="34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4BF"/>
    <a:srgbClr val="E9C46A"/>
    <a:srgbClr val="97EFD3"/>
    <a:srgbClr val="F15574"/>
    <a:srgbClr val="F4EBE8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7/20/2024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222" y="4329684"/>
            <a:ext cx="4873752" cy="63093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Noble Xavier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B90D92-1819-3D47-8648-D3DB3B00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2240280"/>
            <a:ext cx="9192520" cy="1709928"/>
          </a:xfrm>
        </p:spPr>
        <p:txBody>
          <a:bodyPr/>
          <a:lstStyle/>
          <a:p>
            <a:r>
              <a:rPr lang="en-IN" sz="4400" dirty="0">
                <a:latin typeface="Arial Rounded MT Bold" panose="020F0704030504030204" pitchFamily="34" charset="0"/>
              </a:rPr>
              <a:t>Polynomial and KNN Regression</a:t>
            </a: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112" y="2312499"/>
            <a:ext cx="7550891" cy="1901952"/>
          </a:xfrm>
        </p:spPr>
        <p:txBody>
          <a:bodyPr/>
          <a:lstStyle/>
          <a:p>
            <a:pPr algn="ctr"/>
            <a:br>
              <a:rPr lang="en-IN" b="1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</a:b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POLYNOMIAL REGRESSION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BC5B3-3977-012E-E7FE-F46AD8F7E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1707F-5BDB-0D97-D0BF-7E6D65544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33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02E3BF-E718-AF3A-2D2F-55E312CB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17" y="172812"/>
            <a:ext cx="6951307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DD4D2-C358-3B08-DD77-01725CD6310E}"/>
              </a:ext>
            </a:extLst>
          </p:cNvPr>
          <p:cNvSpPr txBox="1"/>
          <p:nvPr/>
        </p:nvSpPr>
        <p:spPr>
          <a:xfrm>
            <a:off x="973494" y="788331"/>
            <a:ext cx="97007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regression, like linear regression, uses the relationship between the variables x and y to find the best way to draw a line through the data 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real-life example of polynomial regression is predicting the trajectory of a rocket, where the relationship between time and position is nonlinear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4D0B9-4BE5-C8F2-9FD3-38B0E662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17" y="2419547"/>
            <a:ext cx="6242181" cy="377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3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02E3BF-E718-AF3A-2D2F-55E312CB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68352"/>
            <a:ext cx="1035376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 Linear and Polynomial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DD4D2-C358-3B08-DD77-01725CD6310E}"/>
              </a:ext>
            </a:extLst>
          </p:cNvPr>
          <p:cNvSpPr txBox="1"/>
          <p:nvPr/>
        </p:nvSpPr>
        <p:spPr>
          <a:xfrm>
            <a:off x="793103" y="1122792"/>
            <a:ext cx="106555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40C28"/>
                </a:solidFill>
                <a:effectLst/>
                <a:latin typeface="Google Sans"/>
              </a:rPr>
              <a:t>Polynomial linear regression is a special case of multiple linear regression where the independent variables are raised to different powers</a:t>
            </a:r>
            <a:r>
              <a:rPr lang="en-US" sz="2000" b="0" i="0" dirty="0">
                <a:solidFill>
                  <a:srgbClr val="4D5156"/>
                </a:solidFill>
                <a:effectLst/>
                <a:latin typeface="Google Sans"/>
              </a:rPr>
              <a:t>. This allows the model to fit non-linear relationships between the dependent and independent variables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94DA7-BD20-469A-3B5B-E0875FE23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56" y="2457957"/>
            <a:ext cx="8172548" cy="341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8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02E3BF-E718-AF3A-2D2F-55E312CB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17" y="303441"/>
            <a:ext cx="6951307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Regression- Equation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E0C71-6058-A6FA-B1BE-DFA08147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96" y="1324418"/>
            <a:ext cx="9633021" cy="426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73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D29290-62AA-41FE-BA73-FA100599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187" y="1732595"/>
            <a:ext cx="5181600" cy="3200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7F53C78-B707-BEA0-7033-D2F3D365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17" y="303441"/>
            <a:ext cx="6951307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Regression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81658-BAB8-5DF3-EA0F-12EE96A7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82" y="1504970"/>
            <a:ext cx="5285765" cy="39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1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162BA9-AC08-4E9E-C7AA-F64C675CC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197" y="493661"/>
            <a:ext cx="6888975" cy="587067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92A7C2E-45DE-0776-7A2E-2A567A98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17" y="-121858"/>
            <a:ext cx="6951307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59970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5E7E04-1FB7-4B57-85CD-2E3B4FF80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62" y="130628"/>
            <a:ext cx="8934312" cy="624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0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971CFB-4BDA-4A8B-9732-3728B6F3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89" y="497657"/>
            <a:ext cx="90868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6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1" y="2478024"/>
            <a:ext cx="7550891" cy="1901952"/>
          </a:xfrm>
        </p:spPr>
        <p:txBody>
          <a:bodyPr/>
          <a:lstStyle/>
          <a:p>
            <a:br>
              <a:rPr lang="en-IN" b="1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</a:br>
            <a:r>
              <a:rPr lang="en-IN" b="1" dirty="0">
                <a:solidFill>
                  <a:srgbClr val="05192D"/>
                </a:solidFill>
                <a:latin typeface="Studio-Feixen-Sans"/>
              </a:rPr>
              <a:t>K-NEAREST NEIGHBORS(KNN)</a:t>
            </a:r>
            <a:br>
              <a:rPr lang="en-IN" b="1" dirty="0">
                <a:solidFill>
                  <a:srgbClr val="05192D"/>
                </a:solidFill>
                <a:latin typeface="Studio-Feixen-Sans"/>
              </a:rPr>
            </a:br>
            <a:r>
              <a:rPr lang="en-IN" b="1" dirty="0">
                <a:solidFill>
                  <a:srgbClr val="05192D"/>
                </a:solidFill>
                <a:latin typeface="Studio-Feixen-Sans"/>
              </a:rPr>
              <a:t>                        (Regression)</a:t>
            </a:r>
            <a:br>
              <a:rPr lang="en-IN" b="1" dirty="0">
                <a:solidFill>
                  <a:srgbClr val="05192D"/>
                </a:solidFill>
                <a:latin typeface="Studio-Feixen-Sans"/>
              </a:rPr>
            </a:br>
            <a:endParaRPr lang="en-IN" b="1" dirty="0">
              <a:solidFill>
                <a:srgbClr val="05192D"/>
              </a:solidFill>
              <a:latin typeface="Studio-Feixen-Sa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BC5B3-3977-012E-E7FE-F46AD8F7E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1707F-5BDB-0D97-D0BF-7E6D65544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770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3AF02-4CBF-4EB3-94D7-A2E13F6F1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21" y="1669042"/>
            <a:ext cx="8709828" cy="4639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46FB60-DDB7-4FA4-B79D-67CF439C902C}"/>
              </a:ext>
            </a:extLst>
          </p:cNvPr>
          <p:cNvSpPr txBox="1"/>
          <p:nvPr/>
        </p:nvSpPr>
        <p:spPr>
          <a:xfrm>
            <a:off x="3020884" y="199748"/>
            <a:ext cx="5051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 (Regression)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FF5F1-F94F-457B-A968-39E8D4F2549C}"/>
              </a:ext>
            </a:extLst>
          </p:cNvPr>
          <p:cNvSpPr txBox="1"/>
          <p:nvPr/>
        </p:nvSpPr>
        <p:spPr>
          <a:xfrm>
            <a:off x="1461676" y="961156"/>
            <a:ext cx="8487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the Weight Based on Height and Age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 Samples, predict the Weight for the 11</a:t>
            </a:r>
            <a:r>
              <a:rPr lang="en-IN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Record)</a:t>
            </a:r>
          </a:p>
        </p:txBody>
      </p:sp>
    </p:spTree>
    <p:extLst>
      <p:ext uri="{BB962C8B-B14F-4D97-AF65-F5344CB8AC3E}">
        <p14:creationId xmlns:p14="http://schemas.microsoft.com/office/powerpoint/2010/main" val="1065258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172BA6-4545-409B-9FD1-5133CD48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02" y="1505117"/>
            <a:ext cx="8172450" cy="48291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3BAD0-CCD3-4097-8F94-CE6112A04776}"/>
              </a:ext>
            </a:extLst>
          </p:cNvPr>
          <p:cNvSpPr txBox="1"/>
          <p:nvPr/>
        </p:nvSpPr>
        <p:spPr>
          <a:xfrm>
            <a:off x="3114190" y="166231"/>
            <a:ext cx="5051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 (Regression)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B49E4D-3001-44FA-BB71-B34952426497}"/>
              </a:ext>
            </a:extLst>
          </p:cNvPr>
          <p:cNvSpPr txBox="1"/>
          <p:nvPr/>
        </p:nvSpPr>
        <p:spPr>
          <a:xfrm>
            <a:off x="860863" y="969189"/>
            <a:ext cx="9688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 the Data as Graph- Yellow point ID 11 is the test point </a:t>
            </a:r>
          </a:p>
        </p:txBody>
      </p:sp>
    </p:spTree>
    <p:extLst>
      <p:ext uri="{BB962C8B-B14F-4D97-AF65-F5344CB8AC3E}">
        <p14:creationId xmlns:p14="http://schemas.microsoft.com/office/powerpoint/2010/main" val="4218994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B5E645-75C5-408A-8175-B544B3436200}"/>
              </a:ext>
            </a:extLst>
          </p:cNvPr>
          <p:cNvSpPr txBox="1"/>
          <p:nvPr/>
        </p:nvSpPr>
        <p:spPr>
          <a:xfrm>
            <a:off x="2611334" y="217503"/>
            <a:ext cx="6683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of KNN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E36C1E-0BD3-41C9-AFB4-F72ED5FA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38" y="1885890"/>
            <a:ext cx="8191500" cy="4313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A80D2-6781-43E5-AD12-B916F7388EED}"/>
              </a:ext>
            </a:extLst>
          </p:cNvPr>
          <p:cNvSpPr txBox="1"/>
          <p:nvPr/>
        </p:nvSpPr>
        <p:spPr>
          <a:xfrm>
            <a:off x="1208469" y="951969"/>
            <a:ext cx="8686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 : Find the distance between the new point and each training point is calculated.</a:t>
            </a:r>
          </a:p>
        </p:txBody>
      </p:sp>
    </p:spTree>
    <p:extLst>
      <p:ext uri="{BB962C8B-B14F-4D97-AF65-F5344CB8AC3E}">
        <p14:creationId xmlns:p14="http://schemas.microsoft.com/office/powerpoint/2010/main" val="2039543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F56DE-BE8F-4E8D-A0F3-E0FD7FE81284}"/>
              </a:ext>
            </a:extLst>
          </p:cNvPr>
          <p:cNvSpPr txBox="1"/>
          <p:nvPr/>
        </p:nvSpPr>
        <p:spPr>
          <a:xfrm>
            <a:off x="2595782" y="94393"/>
            <a:ext cx="7389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of KNN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D1102B-47A2-4D3D-B1DA-327CBF828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61" y="2495049"/>
            <a:ext cx="8776733" cy="4145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708743-7009-4C50-95B4-5BFB41AC98F5}"/>
              </a:ext>
            </a:extLst>
          </p:cNvPr>
          <p:cNvSpPr txBox="1"/>
          <p:nvPr/>
        </p:nvSpPr>
        <p:spPr>
          <a:xfrm>
            <a:off x="1264161" y="740723"/>
            <a:ext cx="89808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 : The closest k data points are selected (based on the distance). In this example, points 1, 5, and 6 will be chosen if the value of </a:t>
            </a:r>
            <a:r>
              <a:rPr lang="en-IN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is 3.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Step3. The average of these data points is the final prediction for the new point. Here, we weight ID11 = (77+72+60)/3 = 69.66 kg.</a:t>
            </a:r>
          </a:p>
        </p:txBody>
      </p:sp>
    </p:spTree>
    <p:extLst>
      <p:ext uri="{BB962C8B-B14F-4D97-AF65-F5344CB8AC3E}">
        <p14:creationId xmlns:p14="http://schemas.microsoft.com/office/powerpoint/2010/main" val="1409683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A52257-032D-4371-BD7D-DCAEF30F9259}"/>
              </a:ext>
            </a:extLst>
          </p:cNvPr>
          <p:cNvSpPr txBox="1"/>
          <p:nvPr/>
        </p:nvSpPr>
        <p:spPr>
          <a:xfrm>
            <a:off x="2611334" y="217503"/>
            <a:ext cx="6683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Calculation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A3B75-46D4-4F31-86AB-B6D32D815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71" y="951723"/>
            <a:ext cx="9020175" cy="530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12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EEC13-B4DA-4125-B615-30690B56F4D6}"/>
              </a:ext>
            </a:extLst>
          </p:cNvPr>
          <p:cNvSpPr txBox="1"/>
          <p:nvPr/>
        </p:nvSpPr>
        <p:spPr>
          <a:xfrm>
            <a:off x="2611334" y="217503"/>
            <a:ext cx="6683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72485-8B98-42AC-8117-9EDE2B1F1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0" y="1960715"/>
            <a:ext cx="5590527" cy="4149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33EB53-64E1-4E3E-9793-015026BC5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160" y="2123519"/>
            <a:ext cx="6120183" cy="3824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69AD4-20DB-4F77-B9E9-5BCA5C71810A}"/>
              </a:ext>
            </a:extLst>
          </p:cNvPr>
          <p:cNvSpPr txBox="1"/>
          <p:nvPr/>
        </p:nvSpPr>
        <p:spPr>
          <a:xfrm>
            <a:off x="443884" y="1031333"/>
            <a:ext cx="9037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K = 5 nearby points 1,4,5,6,10</a:t>
            </a:r>
          </a:p>
        </p:txBody>
      </p:sp>
    </p:spTree>
    <p:extLst>
      <p:ext uri="{BB962C8B-B14F-4D97-AF65-F5344CB8AC3E}">
        <p14:creationId xmlns:p14="http://schemas.microsoft.com/office/powerpoint/2010/main" val="899136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DC324-2AAA-415A-8EFD-1FBF60217413}"/>
              </a:ext>
            </a:extLst>
          </p:cNvPr>
          <p:cNvSpPr txBox="1"/>
          <p:nvPr/>
        </p:nvSpPr>
        <p:spPr>
          <a:xfrm>
            <a:off x="2611334" y="217503"/>
            <a:ext cx="6683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Optimum K Value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5A884-E641-47EA-8AC3-2A8547A9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672" y="2221953"/>
            <a:ext cx="8460419" cy="420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F47B85-841D-4046-BB96-7E33C6FBBDCB}"/>
              </a:ext>
            </a:extLst>
          </p:cNvPr>
          <p:cNvSpPr txBox="1"/>
          <p:nvPr/>
        </p:nvSpPr>
        <p:spPr>
          <a:xfrm>
            <a:off x="1156996" y="758063"/>
            <a:ext cx="9052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 the graph with RMSE value - The validation error curve reaches a minimum at a value of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= 9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value of k is the optimum value of the model (it will vary for different datasets). This curve is known as an ‘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elbow curve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 (because it has a shape like an elbow) and is usually used to determine the k value.</a:t>
            </a:r>
          </a:p>
        </p:txBody>
      </p:sp>
    </p:spTree>
    <p:extLst>
      <p:ext uri="{BB962C8B-B14F-4D97-AF65-F5344CB8AC3E}">
        <p14:creationId xmlns:p14="http://schemas.microsoft.com/office/powerpoint/2010/main" val="3499729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590</TotalTime>
  <Words>340</Words>
  <Application>Microsoft Office PowerPoint</Application>
  <PresentationFormat>Widescreen</PresentationFormat>
  <Paragraphs>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Rounded MT Bold</vt:lpstr>
      <vt:lpstr>Calibri</vt:lpstr>
      <vt:lpstr>Century Gothic</vt:lpstr>
      <vt:lpstr>Google Sans</vt:lpstr>
      <vt:lpstr>Karla</vt:lpstr>
      <vt:lpstr>Studio-Feixen-Sans</vt:lpstr>
      <vt:lpstr>Univers Condensed Light</vt:lpstr>
      <vt:lpstr>Office Theme</vt:lpstr>
      <vt:lpstr>Polynomial and KNN Regression</vt:lpstr>
      <vt:lpstr> POLYNOMIAL REGRESSION</vt:lpstr>
      <vt:lpstr>Polynomial Regression</vt:lpstr>
      <vt:lpstr>Difference Linear and Polynomial Regression</vt:lpstr>
      <vt:lpstr>Polynomial Regression- Equation</vt:lpstr>
      <vt:lpstr>Polynomial Regression</vt:lpstr>
      <vt:lpstr>Polynomial Regression</vt:lpstr>
      <vt:lpstr>PowerPoint Presentation</vt:lpstr>
      <vt:lpstr>PowerPoint Presentation</vt:lpstr>
      <vt:lpstr> K-NEAREST NEIGHBORS(KNN)                         (Regression)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115</cp:revision>
  <dcterms:created xsi:type="dcterms:W3CDTF">2023-08-11T17:08:08Z</dcterms:created>
  <dcterms:modified xsi:type="dcterms:W3CDTF">2024-07-20T04:15:36Z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