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sldIdLst>
    <p:sldId id="383" r:id="rId5"/>
    <p:sldId id="384" r:id="rId6"/>
    <p:sldId id="385" r:id="rId7"/>
    <p:sldId id="485" r:id="rId8"/>
    <p:sldId id="486" r:id="rId9"/>
    <p:sldId id="487" r:id="rId10"/>
    <p:sldId id="494" r:id="rId11"/>
    <p:sldId id="488" r:id="rId12"/>
    <p:sldId id="489" r:id="rId13"/>
    <p:sldId id="490" r:id="rId14"/>
    <p:sldId id="491" r:id="rId15"/>
    <p:sldId id="492" r:id="rId16"/>
    <p:sldId id="495" r:id="rId17"/>
    <p:sldId id="496" r:id="rId18"/>
    <p:sldId id="497" r:id="rId19"/>
    <p:sldId id="498" r:id="rId20"/>
    <p:sldId id="499" r:id="rId21"/>
    <p:sldId id="500" r:id="rId22"/>
    <p:sldId id="501" r:id="rId23"/>
    <p:sldId id="340" r:id="rId24"/>
    <p:sldId id="484" r:id="rId25"/>
    <p:sldId id="443" r:id="rId26"/>
    <p:sldId id="444" r:id="rId27"/>
    <p:sldId id="445" r:id="rId28"/>
    <p:sldId id="446" r:id="rId29"/>
    <p:sldId id="349" r:id="rId30"/>
    <p:sldId id="447" r:id="rId31"/>
    <p:sldId id="448" r:id="rId32"/>
    <p:sldId id="44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C4BF"/>
    <a:srgbClr val="E9C46A"/>
    <a:srgbClr val="97EFD3"/>
    <a:srgbClr val="F15574"/>
    <a:srgbClr val="F4EBE8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99" autoAdjust="0"/>
  </p:normalViewPr>
  <p:slideViewPr>
    <p:cSldViewPr snapToGrid="0" snapToObjects="1" showGuides="1">
      <p:cViewPr varScale="1">
        <p:scale>
          <a:sx n="82" d="100"/>
          <a:sy n="82" d="100"/>
        </p:scale>
        <p:origin x="720" y="72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1498-DA8F-86CB-A0EE-3DB38201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653" y="2322576"/>
            <a:ext cx="9050694" cy="1901952"/>
          </a:xfrm>
        </p:spPr>
        <p:txBody>
          <a:bodyPr/>
          <a:lstStyle/>
          <a:p>
            <a:pPr algn="ctr"/>
            <a:r>
              <a:rPr lang="en-IN" dirty="0">
                <a:latin typeface="Arial Rounded MT Bold" panose="020F0704030504030204" pitchFamily="34" charset="0"/>
              </a:rPr>
              <a:t>GRADIENT/XG BOOST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BC5B3-3977-012E-E7FE-F46AD8F7E3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1707F-5BDB-0D97-D0BF-7E6D65544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330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53D051-E33A-A589-9676-6FDF533C02F7}"/>
              </a:ext>
            </a:extLst>
          </p:cNvPr>
          <p:cNvSpPr txBox="1"/>
          <p:nvPr/>
        </p:nvSpPr>
        <p:spPr>
          <a:xfrm>
            <a:off x="2621902" y="289249"/>
            <a:ext cx="5868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0A5BFC-9975-BB30-E131-CC145AB21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55" y="973421"/>
            <a:ext cx="11171601" cy="455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519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4C5AC7-FE3C-FD82-8912-B949C234E8CF}"/>
              </a:ext>
            </a:extLst>
          </p:cNvPr>
          <p:cNvSpPr txBox="1"/>
          <p:nvPr/>
        </p:nvSpPr>
        <p:spPr>
          <a:xfrm>
            <a:off x="818965" y="855922"/>
            <a:ext cx="980760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boosting </a:t>
            </a:r>
            <a:r>
              <a:rPr lang="en-US" sz="2000" b="0" i="0" u="none" strike="noStrik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ensemble technique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consists of</a:t>
            </a: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three 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steps:</a:t>
            </a:r>
          </a:p>
          <a:p>
            <a:pPr algn="l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initial model F0 is defined to predict the target variable y. This model will be associated with a residual (y – F0)</a:t>
            </a:r>
          </a:p>
          <a:p>
            <a:pPr lvl="1"/>
            <a:endParaRPr lang="en-US" sz="20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new model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 is fit to the residuals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previous step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Now, F0 and h1 are combined to give F1, the boosted version of F0</a:t>
            </a: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The mean squared error from F1 will be lower than that from F0: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C2D4B8-DF84-5F12-7FC3-6D545D251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342" y="4344489"/>
            <a:ext cx="4898299" cy="135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9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52F38E-4FF9-8284-7214-89567D10E591}"/>
              </a:ext>
            </a:extLst>
          </p:cNvPr>
          <p:cNvSpPr txBox="1"/>
          <p:nvPr/>
        </p:nvSpPr>
        <p:spPr>
          <a:xfrm>
            <a:off x="1076417" y="799860"/>
            <a:ext cx="97099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improve the performance of F1, we could model after the residuals of F1 and create a new model F2: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E8F399-0174-FFE5-73BF-538823D60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327" y="1559971"/>
            <a:ext cx="5440092" cy="16204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06847E-0F98-791C-4E95-2E22A2E8B932}"/>
              </a:ext>
            </a:extLst>
          </p:cNvPr>
          <p:cNvSpPr txBox="1"/>
          <p:nvPr/>
        </p:nvSpPr>
        <p:spPr>
          <a:xfrm>
            <a:off x="907740" y="3617369"/>
            <a:ext cx="102781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 done for </a:t>
            </a:r>
            <a:r>
              <a:rPr lang="en-US" sz="2000" b="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‘m’ 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iterations until residuals have been minimized as much as possible: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9982DC-8F10-0B27-C272-2E40527E2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327" y="4237908"/>
            <a:ext cx="6579728" cy="174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38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24A015-509F-0325-246B-9B5EB85D2A2C}"/>
              </a:ext>
            </a:extLst>
          </p:cNvPr>
          <p:cNvSpPr txBox="1"/>
          <p:nvPr/>
        </p:nvSpPr>
        <p:spPr>
          <a:xfrm>
            <a:off x="692458" y="390617"/>
            <a:ext cx="9001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78EA0D-ACD4-5615-4D75-104A36462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96" y="1326333"/>
            <a:ext cx="2383331" cy="42975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103986-7C17-CE3B-50A0-4E00973A0813}"/>
              </a:ext>
            </a:extLst>
          </p:cNvPr>
          <p:cNvSpPr txBox="1"/>
          <p:nvPr/>
        </p:nvSpPr>
        <p:spPr>
          <a:xfrm>
            <a:off x="4006049" y="1389329"/>
            <a:ext cx="71620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the first step, the model should be initialized with a function F0(x).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F0(x) should be a function that minimizes the loss function or MSE (mean squared error),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case: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B1E85E-537B-6FBD-253D-BFF4E9F96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290" y="3866969"/>
            <a:ext cx="5671544" cy="186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2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CAA2CF-EAB8-AFDB-32B9-DEAF131F52A0}"/>
              </a:ext>
            </a:extLst>
          </p:cNvPr>
          <p:cNvSpPr txBox="1"/>
          <p:nvPr/>
        </p:nvSpPr>
        <p:spPr>
          <a:xfrm>
            <a:off x="923913" y="995118"/>
            <a:ext cx="104046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Taking the first differential of the above equation with respect to γ (</a:t>
            </a:r>
            <a:r>
              <a:rPr lang="en-US" sz="2000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rate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, </a:t>
            </a:r>
          </a:p>
          <a:p>
            <a:pPr algn="l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seen that the function minimizes at the mean </a:t>
            </a:r>
            <a:r>
              <a:rPr lang="en-US" sz="20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=1ny</a:t>
            </a:r>
          </a:p>
          <a:p>
            <a:pPr algn="l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So, the boosting model could be initiated with: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2D07D-BABE-4201-8B19-7C6F72FDC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386" y="3018453"/>
            <a:ext cx="3246268" cy="167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7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1F7EB2-3B76-FDC7-B3DD-C64B75C0415E}"/>
              </a:ext>
            </a:extLst>
          </p:cNvPr>
          <p:cNvSpPr txBox="1"/>
          <p:nvPr/>
        </p:nvSpPr>
        <p:spPr>
          <a:xfrm>
            <a:off x="712433" y="703955"/>
            <a:ext cx="105533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F0(x) gives the predictions from the first stage of our model. </a:t>
            </a:r>
          </a:p>
          <a:p>
            <a:pPr algn="l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Now, the residual error for each instance is (</a:t>
            </a:r>
            <a:r>
              <a:rPr lang="en-US" sz="20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yi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– F0(x)).  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F0 is the average </a:t>
            </a:r>
            <a:endParaRPr lang="en-IN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D97628-7360-1846-F10A-5CFD4A07A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38" y="1936072"/>
            <a:ext cx="4542408" cy="434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0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EC6B92-DE56-B382-0E29-649D5B47DD0F}"/>
              </a:ext>
            </a:extLst>
          </p:cNvPr>
          <p:cNvSpPr txBox="1"/>
          <p:nvPr/>
        </p:nvSpPr>
        <p:spPr>
          <a:xfrm>
            <a:off x="552634" y="423414"/>
            <a:ext cx="95590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use the residuals from F0(x) to create h1(x). </a:t>
            </a:r>
          </a:p>
          <a:p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h1(x) will be a regression tree that will try and reduce the residuals from the previous step. </a:t>
            </a:r>
          </a:p>
          <a:p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output of h1(x) won’t be a prediction of y; instead, it will help in predicting the successive function F1(x) which will bring down the residuals.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A3935-7200-8E0B-FC69-0E0871BB1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94" y="2517467"/>
            <a:ext cx="7240064" cy="335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9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AF0554-D89A-3F12-89D7-FF5093AAD1BE}"/>
              </a:ext>
            </a:extLst>
          </p:cNvPr>
          <p:cNvSpPr txBox="1"/>
          <p:nvPr/>
        </p:nvSpPr>
        <p:spPr>
          <a:xfrm>
            <a:off x="824219" y="246562"/>
            <a:ext cx="87866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additive model h1(x) computes the mean of the residuals (y – F0) at each leaf of the tree.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boosted function F1(x) is obtained by summing F0(x) and h1(x).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way h1(x) learns from the residuals of F0(x) and suppresses it in F1(x).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8CB54-9EA4-F73A-D2CD-1F1D358AD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689" y="2185554"/>
            <a:ext cx="5781952" cy="40367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B9882F-3A77-5699-E761-E22423609AB4}"/>
              </a:ext>
            </a:extLst>
          </p:cNvPr>
          <p:cNvSpPr txBox="1"/>
          <p:nvPr/>
        </p:nvSpPr>
        <p:spPr>
          <a:xfrm>
            <a:off x="7377344" y="2743200"/>
            <a:ext cx="39860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h1 -   New Prediction Value 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 = F0+h1 </a:t>
            </a:r>
          </a:p>
        </p:txBody>
      </p:sp>
    </p:spTree>
    <p:extLst>
      <p:ext uri="{BB962C8B-B14F-4D97-AF65-F5344CB8AC3E}">
        <p14:creationId xmlns:p14="http://schemas.microsoft.com/office/powerpoint/2010/main" val="2879377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18FDF4-F8AD-BA18-B53F-557E30868C27}"/>
              </a:ext>
            </a:extLst>
          </p:cNvPr>
          <p:cNvSpPr txBox="1"/>
          <p:nvPr/>
        </p:nvSpPr>
        <p:spPr>
          <a:xfrm>
            <a:off x="694677" y="112372"/>
            <a:ext cx="105266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can be repeated for 2 more iterations to compute h2(x) and h3(x). </a:t>
            </a:r>
          </a:p>
          <a:p>
            <a:pPr algn="l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of these additive learners,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hm(x), will make use of the residuals from the preceding function, Fm-1(x).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A9F34-1421-FE18-1062-D6862DABD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989" y="1435811"/>
            <a:ext cx="6401771" cy="499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29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F7E078-D5BA-F991-3B5D-C0B494E23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88" y="1069737"/>
            <a:ext cx="10397600" cy="3958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5DF896-B2F5-023D-BE31-26E0E0B65051}"/>
              </a:ext>
            </a:extLst>
          </p:cNvPr>
          <p:cNvSpPr txBox="1"/>
          <p:nvPr/>
        </p:nvSpPr>
        <p:spPr>
          <a:xfrm>
            <a:off x="987641" y="5398227"/>
            <a:ext cx="82963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h1 -   New Prediction Value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 = F0+h1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FFD7E5-E173-588A-851E-39E51B7E5FFE}"/>
              </a:ext>
            </a:extLst>
          </p:cNvPr>
          <p:cNvSpPr txBox="1"/>
          <p:nvPr/>
        </p:nvSpPr>
        <p:spPr>
          <a:xfrm>
            <a:off x="2836506" y="330637"/>
            <a:ext cx="51863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 Boost- Example</a:t>
            </a:r>
          </a:p>
        </p:txBody>
      </p:sp>
    </p:spTree>
    <p:extLst>
      <p:ext uri="{BB962C8B-B14F-4D97-AF65-F5344CB8AC3E}">
        <p14:creationId xmlns:p14="http://schemas.microsoft.com/office/powerpoint/2010/main" val="3192455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6E384E-B785-7CB4-FF9C-756B2AA71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26" y="1078456"/>
            <a:ext cx="9597309" cy="4893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D95FE1-A729-B0F6-C42A-D7FE279FF805}"/>
              </a:ext>
            </a:extLst>
          </p:cNvPr>
          <p:cNvSpPr txBox="1"/>
          <p:nvPr/>
        </p:nvSpPr>
        <p:spPr>
          <a:xfrm>
            <a:off x="2509935" y="332410"/>
            <a:ext cx="60390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 Boost Steps</a:t>
            </a:r>
          </a:p>
        </p:txBody>
      </p:sp>
    </p:spTree>
    <p:extLst>
      <p:ext uri="{BB962C8B-B14F-4D97-AF65-F5344CB8AC3E}">
        <p14:creationId xmlns:p14="http://schemas.microsoft.com/office/powerpoint/2010/main" val="2270462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EE7FC-8200-83C4-6B2E-098FCB406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058430"/>
            <a:ext cx="11163300" cy="5362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FE8FD-BD01-1171-D756-DAE6F8A66975}"/>
              </a:ext>
            </a:extLst>
          </p:cNvPr>
          <p:cNvSpPr txBox="1"/>
          <p:nvPr/>
        </p:nvSpPr>
        <p:spPr>
          <a:xfrm>
            <a:off x="727969" y="363985"/>
            <a:ext cx="89220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 </a:t>
            </a:r>
          </a:p>
        </p:txBody>
      </p:sp>
    </p:spTree>
    <p:extLst>
      <p:ext uri="{BB962C8B-B14F-4D97-AF65-F5344CB8AC3E}">
        <p14:creationId xmlns:p14="http://schemas.microsoft.com/office/powerpoint/2010/main" val="6828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856860-FD39-A800-698D-850B91A14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" y="1036329"/>
            <a:ext cx="11268075" cy="5229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D7A8DB-9A2E-23FF-2BB0-C58AB965DF7A}"/>
              </a:ext>
            </a:extLst>
          </p:cNvPr>
          <p:cNvSpPr txBox="1"/>
          <p:nvPr/>
        </p:nvSpPr>
        <p:spPr>
          <a:xfrm>
            <a:off x="8762260" y="2610035"/>
            <a:ext cx="24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Create the tree to predict the Residuals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9B2A5-0D4F-880D-310B-A12BDB8334AD}"/>
              </a:ext>
            </a:extLst>
          </p:cNvPr>
          <p:cNvSpPr txBox="1"/>
          <p:nvPr/>
        </p:nvSpPr>
        <p:spPr>
          <a:xfrm>
            <a:off x="727969" y="363985"/>
            <a:ext cx="89220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 </a:t>
            </a:r>
          </a:p>
        </p:txBody>
      </p:sp>
    </p:spTree>
    <p:extLst>
      <p:ext uri="{BB962C8B-B14F-4D97-AF65-F5344CB8AC3E}">
        <p14:creationId xmlns:p14="http://schemas.microsoft.com/office/powerpoint/2010/main" val="1699735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841FE8-5B50-6DA8-CBA1-87060CA18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00" y="1290637"/>
            <a:ext cx="10868419" cy="46343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DA1663-9DCF-0E4C-320B-AB404D971F6C}"/>
              </a:ext>
            </a:extLst>
          </p:cNvPr>
          <p:cNvSpPr txBox="1"/>
          <p:nvPr/>
        </p:nvSpPr>
        <p:spPr>
          <a:xfrm>
            <a:off x="727969" y="363985"/>
            <a:ext cx="89220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 </a:t>
            </a:r>
          </a:p>
        </p:txBody>
      </p:sp>
    </p:spTree>
    <p:extLst>
      <p:ext uri="{BB962C8B-B14F-4D97-AF65-F5344CB8AC3E}">
        <p14:creationId xmlns:p14="http://schemas.microsoft.com/office/powerpoint/2010/main" val="4159944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1041DF-7C91-41B2-9027-0F9151999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93331"/>
            <a:ext cx="11125200" cy="4781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2F0F59-51FE-D033-9EF8-06D6DA421437}"/>
              </a:ext>
            </a:extLst>
          </p:cNvPr>
          <p:cNvSpPr txBox="1"/>
          <p:nvPr/>
        </p:nvSpPr>
        <p:spPr>
          <a:xfrm>
            <a:off x="630315" y="452286"/>
            <a:ext cx="89220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BOOSTING- Overfitting Scenario </a:t>
            </a:r>
          </a:p>
        </p:txBody>
      </p:sp>
    </p:spTree>
    <p:extLst>
      <p:ext uri="{BB962C8B-B14F-4D97-AF65-F5344CB8AC3E}">
        <p14:creationId xmlns:p14="http://schemas.microsoft.com/office/powerpoint/2010/main" val="1506146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C1A043-62C2-9B45-3B6F-75A8D98E3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8" y="1189608"/>
            <a:ext cx="11258550" cy="5300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9637FA-8783-5627-4285-35F8C1F47926}"/>
              </a:ext>
            </a:extLst>
          </p:cNvPr>
          <p:cNvSpPr txBox="1"/>
          <p:nvPr/>
        </p:nvSpPr>
        <p:spPr>
          <a:xfrm>
            <a:off x="555502" y="368377"/>
            <a:ext cx="10939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BOOSTING-  Add Learning Rate to reduce Overfitting issue  </a:t>
            </a:r>
          </a:p>
        </p:txBody>
      </p:sp>
    </p:spTree>
    <p:extLst>
      <p:ext uri="{BB962C8B-B14F-4D97-AF65-F5344CB8AC3E}">
        <p14:creationId xmlns:p14="http://schemas.microsoft.com/office/powerpoint/2010/main" val="3886185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868E13-5899-AD0C-9AA9-95284A9FF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79" y="1049737"/>
            <a:ext cx="11353800" cy="50958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1435A7-D6B2-D4B1-364E-00E60451E398}"/>
              </a:ext>
            </a:extLst>
          </p:cNvPr>
          <p:cNvSpPr txBox="1"/>
          <p:nvPr/>
        </p:nvSpPr>
        <p:spPr>
          <a:xfrm>
            <a:off x="555502" y="368377"/>
            <a:ext cx="103640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BOOSTING-  New Residuals</a:t>
            </a:r>
          </a:p>
        </p:txBody>
      </p:sp>
    </p:spTree>
    <p:extLst>
      <p:ext uri="{BB962C8B-B14F-4D97-AF65-F5344CB8AC3E}">
        <p14:creationId xmlns:p14="http://schemas.microsoft.com/office/powerpoint/2010/main" val="2464437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31DE12-5528-D500-8B2B-3721A6EBC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84" y="1199551"/>
            <a:ext cx="11050988" cy="52900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D15891-DC41-840B-C0F5-F0694BFFAAEA}"/>
              </a:ext>
            </a:extLst>
          </p:cNvPr>
          <p:cNvSpPr txBox="1"/>
          <p:nvPr/>
        </p:nvSpPr>
        <p:spPr>
          <a:xfrm>
            <a:off x="555502" y="368377"/>
            <a:ext cx="103640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</a:t>
            </a:r>
          </a:p>
        </p:txBody>
      </p:sp>
    </p:spTree>
    <p:extLst>
      <p:ext uri="{BB962C8B-B14F-4D97-AF65-F5344CB8AC3E}">
        <p14:creationId xmlns:p14="http://schemas.microsoft.com/office/powerpoint/2010/main" val="1143412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B52613-4472-69B4-B980-CF6DD58351FF}"/>
              </a:ext>
            </a:extLst>
          </p:cNvPr>
          <p:cNvSpPr txBox="1"/>
          <p:nvPr/>
        </p:nvSpPr>
        <p:spPr>
          <a:xfrm>
            <a:off x="2822994" y="344868"/>
            <a:ext cx="66927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 Boost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B2C723-5913-F574-B78A-5D2A26156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29" y="1384656"/>
            <a:ext cx="10931098" cy="443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56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E6775D-BF1A-7A31-07DD-4781429A6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02" y="1028700"/>
            <a:ext cx="9676209" cy="4800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15B6B4-7C97-A651-6299-828553F7C109}"/>
              </a:ext>
            </a:extLst>
          </p:cNvPr>
          <p:cNvSpPr txBox="1"/>
          <p:nvPr/>
        </p:nvSpPr>
        <p:spPr>
          <a:xfrm>
            <a:off x="555502" y="368377"/>
            <a:ext cx="91390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 XG Boost over Gradient Boosting </a:t>
            </a:r>
          </a:p>
        </p:txBody>
      </p:sp>
    </p:spTree>
    <p:extLst>
      <p:ext uri="{BB962C8B-B14F-4D97-AF65-F5344CB8AC3E}">
        <p14:creationId xmlns:p14="http://schemas.microsoft.com/office/powerpoint/2010/main" val="3922677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20A351-284A-4943-BAB6-10F558362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72" y="1464814"/>
            <a:ext cx="6417816" cy="484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1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4C0D7D-22BA-451A-A377-32FF88435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94" y="534372"/>
            <a:ext cx="7677927" cy="556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456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BD10A0-770B-4793-9FFE-238078388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507" y="611544"/>
            <a:ext cx="9541655" cy="502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2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35F786-5864-463D-A98C-E74D6C1F0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974" y="529706"/>
            <a:ext cx="6743214" cy="59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1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A7E205-3F29-4941-9903-F36AFCB2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12" y="525938"/>
            <a:ext cx="11032572" cy="522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68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EDC77E-58EB-4E26-8AD4-6B0E3A97B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14" y="1976252"/>
            <a:ext cx="10598031" cy="41306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0A5FEF-7714-4017-97A6-D9D2BC33F2D2}"/>
              </a:ext>
            </a:extLst>
          </p:cNvPr>
          <p:cNvSpPr txBox="1"/>
          <p:nvPr/>
        </p:nvSpPr>
        <p:spPr>
          <a:xfrm>
            <a:off x="1174071" y="627641"/>
            <a:ext cx="980805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 for XG Boost Parameters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https://xgboost.readthedocs.io/en/latest/parameter.html</a:t>
            </a:r>
          </a:p>
        </p:txBody>
      </p:sp>
    </p:spTree>
    <p:extLst>
      <p:ext uri="{BB962C8B-B14F-4D97-AF65-F5344CB8AC3E}">
        <p14:creationId xmlns:p14="http://schemas.microsoft.com/office/powerpoint/2010/main" val="3367745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115223-974E-4CD9-96F2-8F03407EE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57" y="177747"/>
            <a:ext cx="9250532" cy="650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255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258204-A452-422E-A48E-44B0498D7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274" y="1027004"/>
            <a:ext cx="9956079" cy="54623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F37A35-AA32-581F-DBD8-49ACF58EF363}"/>
              </a:ext>
            </a:extLst>
          </p:cNvPr>
          <p:cNvSpPr txBox="1"/>
          <p:nvPr/>
        </p:nvSpPr>
        <p:spPr>
          <a:xfrm>
            <a:off x="3340359" y="176645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 Boost Parameters</a:t>
            </a:r>
            <a:endParaRPr lang="en-IN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59DE87-76A9-9638-AD4B-DBC78E3FEC50}"/>
              </a:ext>
            </a:extLst>
          </p:cNvPr>
          <p:cNvSpPr txBox="1"/>
          <p:nvPr/>
        </p:nvSpPr>
        <p:spPr>
          <a:xfrm>
            <a:off x="987746" y="657672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https://xgboost.readthedocs.io/en/latest/parameter.html</a:t>
            </a:r>
          </a:p>
        </p:txBody>
      </p:sp>
    </p:spTree>
    <p:extLst>
      <p:ext uri="{BB962C8B-B14F-4D97-AF65-F5344CB8AC3E}">
        <p14:creationId xmlns:p14="http://schemas.microsoft.com/office/powerpoint/2010/main" val="3149651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{0CBD495F-6F60-4A28-86A3-313002760B2E}tf11429527_win32</Template>
  <TotalTime>1039</TotalTime>
  <Words>536</Words>
  <Application>Microsoft Office PowerPoint</Application>
  <PresentationFormat>Widescreen</PresentationFormat>
  <Paragraphs>62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Arial Rounded MT Bold</vt:lpstr>
      <vt:lpstr>Calibri</vt:lpstr>
      <vt:lpstr>Century Gothic</vt:lpstr>
      <vt:lpstr>Karla</vt:lpstr>
      <vt:lpstr>Univers Condensed Light</vt:lpstr>
      <vt:lpstr>Office Theme</vt:lpstr>
      <vt:lpstr>GRADIENT/XG BOOST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</dc:title>
  <dc:creator>Noble Xavier</dc:creator>
  <cp:lastModifiedBy>Noble Xavier</cp:lastModifiedBy>
  <cp:revision>203</cp:revision>
  <dcterms:created xsi:type="dcterms:W3CDTF">2023-08-11T17:08:08Z</dcterms:created>
  <dcterms:modified xsi:type="dcterms:W3CDTF">2026-01-07T04:50:18Z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