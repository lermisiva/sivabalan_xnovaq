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84" r:id="rId5"/>
    <p:sldId id="257" r:id="rId6"/>
    <p:sldId id="376" r:id="rId7"/>
    <p:sldId id="372" r:id="rId8"/>
    <p:sldId id="373" r:id="rId9"/>
    <p:sldId id="375" r:id="rId10"/>
    <p:sldId id="374" r:id="rId11"/>
    <p:sldId id="371" r:id="rId12"/>
    <p:sldId id="377" r:id="rId13"/>
    <p:sldId id="379" r:id="rId14"/>
    <p:sldId id="380" r:id="rId15"/>
    <p:sldId id="381" r:id="rId16"/>
    <p:sldId id="382" r:id="rId17"/>
    <p:sldId id="37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C4BF"/>
    <a:srgbClr val="E9C46A"/>
    <a:srgbClr val="97EFD3"/>
    <a:srgbClr val="F15574"/>
    <a:srgbClr val="F4EBE8"/>
    <a:srgbClr val="C9ABA7"/>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899" autoAdjust="0"/>
  </p:normalViewPr>
  <p:slideViewPr>
    <p:cSldViewPr snapToGrid="0" snapToObjects="1" showGuides="1">
      <p:cViewPr varScale="1">
        <p:scale>
          <a:sx n="82" d="100"/>
          <a:sy n="82" d="100"/>
        </p:scale>
        <p:origin x="720" y="72"/>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ubtitle 25">
            <a:extLst>
              <a:ext uri="{FF2B5EF4-FFF2-40B4-BE49-F238E27FC236}">
                <a16:creationId xmlns:a16="http://schemas.microsoft.com/office/drawing/2014/main" id="{06930851-3EE7-5B25-F590-CCB7467A2094}"/>
              </a:ext>
            </a:extLst>
          </p:cNvPr>
          <p:cNvSpPr>
            <a:spLocks noGrp="1"/>
          </p:cNvSpPr>
          <p:nvPr>
            <p:ph type="subTitle" idx="1"/>
          </p:nvPr>
        </p:nvSpPr>
        <p:spPr>
          <a:xfrm>
            <a:off x="4945222" y="4329684"/>
            <a:ext cx="4873752" cy="630936"/>
          </a:xfrm>
        </p:spPr>
        <p:txBody>
          <a:bodyPr/>
          <a:lstStyle/>
          <a:p>
            <a:r>
              <a:rPr lang="en-US" sz="4000" dirty="0">
                <a:latin typeface="Arial" panose="020B0604020202020204" pitchFamily="34" charset="0"/>
                <a:cs typeface="Arial" panose="020B0604020202020204" pitchFamily="34" charset="0"/>
              </a:rPr>
              <a:t>Noble Xavier</a:t>
            </a:r>
          </a:p>
          <a:p>
            <a:endParaRPr lang="en-US" dirty="0"/>
          </a:p>
        </p:txBody>
      </p:sp>
      <p:sp>
        <p:nvSpPr>
          <p:cNvPr id="4" name="Title 3">
            <a:extLst>
              <a:ext uri="{FF2B5EF4-FFF2-40B4-BE49-F238E27FC236}">
                <a16:creationId xmlns:a16="http://schemas.microsoft.com/office/drawing/2014/main" id="{B7B90D92-1819-3D47-8648-D3DB3B00FFFB}"/>
              </a:ext>
            </a:extLst>
          </p:cNvPr>
          <p:cNvSpPr>
            <a:spLocks noGrp="1"/>
          </p:cNvSpPr>
          <p:nvPr>
            <p:ph type="ctrTitle"/>
          </p:nvPr>
        </p:nvSpPr>
        <p:spPr>
          <a:xfrm>
            <a:off x="1463039" y="2240280"/>
            <a:ext cx="9192520" cy="1709928"/>
          </a:xfrm>
        </p:spPr>
        <p:txBody>
          <a:bodyPr/>
          <a:lstStyle/>
          <a:p>
            <a:r>
              <a:rPr lang="en-IN" sz="4800" dirty="0">
                <a:latin typeface="Arial Rounded MT Bold" panose="020F0704030504030204" pitchFamily="34" charset="0"/>
              </a:rPr>
              <a:t>Boosting</a:t>
            </a:r>
          </a:p>
        </p:txBody>
      </p:sp>
    </p:spTree>
    <p:extLst>
      <p:ext uri="{BB962C8B-B14F-4D97-AF65-F5344CB8AC3E}">
        <p14:creationId xmlns:p14="http://schemas.microsoft.com/office/powerpoint/2010/main" val="4097023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C94D5F-D96D-794C-EE65-CCED355F605A}"/>
              </a:ext>
            </a:extLst>
          </p:cNvPr>
          <p:cNvSpPr txBox="1"/>
          <p:nvPr/>
        </p:nvSpPr>
        <p:spPr>
          <a:xfrm>
            <a:off x="783770" y="1427212"/>
            <a:ext cx="9405258" cy="3785652"/>
          </a:xfrm>
          <a:prstGeom prst="rect">
            <a:avLst/>
          </a:prstGeom>
          <a:noFill/>
        </p:spPr>
        <p:txBody>
          <a:bodyPr wrap="square">
            <a:spAutoFit/>
          </a:bodyPr>
          <a:lstStyle/>
          <a:p>
            <a:r>
              <a:rPr lang="en-US" sz="20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Boosting is the process that uses a set of Machine Learning algorithms to combine weak learns to form strong learns in order to increase the accuracy of the model</a:t>
            </a:r>
          </a:p>
          <a:p>
            <a:endParaRPr lang="en-US" sz="2000"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endParaRPr lang="en-US" sz="20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r>
              <a:rPr lang="en-US" sz="20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Boosting</a:t>
            </a: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is an ensemble modeling technique that attempts to build a strong classifier from the number of weak classifiers. It is done by building a model by using weak models in series. </a:t>
            </a:r>
          </a:p>
          <a:p>
            <a:endPar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Firstly, a model is built from the training data. Then the second model is built which tries to correct the errors present in the first model. This procedure is continued and models are added until either the complete training data set is predicted correctly or the maximum number of models are added.</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Boosting</a:t>
            </a:r>
          </a:p>
        </p:txBody>
      </p:sp>
    </p:spTree>
    <p:extLst>
      <p:ext uri="{BB962C8B-B14F-4D97-AF65-F5344CB8AC3E}">
        <p14:creationId xmlns:p14="http://schemas.microsoft.com/office/powerpoint/2010/main" val="3275153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Boosting</a:t>
            </a:r>
          </a:p>
        </p:txBody>
      </p:sp>
      <p:pic>
        <p:nvPicPr>
          <p:cNvPr id="3" name="Picture 2">
            <a:extLst>
              <a:ext uri="{FF2B5EF4-FFF2-40B4-BE49-F238E27FC236}">
                <a16:creationId xmlns:a16="http://schemas.microsoft.com/office/drawing/2014/main" id="{D433C906-D08F-0023-07FE-A58AE877B815}"/>
              </a:ext>
            </a:extLst>
          </p:cNvPr>
          <p:cNvPicPr>
            <a:picLocks noChangeAspect="1"/>
          </p:cNvPicPr>
          <p:nvPr/>
        </p:nvPicPr>
        <p:blipFill>
          <a:blip r:embed="rId2"/>
          <a:stretch>
            <a:fillRect/>
          </a:stretch>
        </p:blipFill>
        <p:spPr>
          <a:xfrm>
            <a:off x="1320901" y="1162525"/>
            <a:ext cx="8951064" cy="4165254"/>
          </a:xfrm>
          <a:prstGeom prst="rect">
            <a:avLst/>
          </a:prstGeom>
        </p:spPr>
      </p:pic>
    </p:spTree>
    <p:extLst>
      <p:ext uri="{BB962C8B-B14F-4D97-AF65-F5344CB8AC3E}">
        <p14:creationId xmlns:p14="http://schemas.microsoft.com/office/powerpoint/2010/main" val="806987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C94D5F-D96D-794C-EE65-CCED355F605A}"/>
              </a:ext>
            </a:extLst>
          </p:cNvPr>
          <p:cNvSpPr txBox="1"/>
          <p:nvPr/>
        </p:nvSpPr>
        <p:spPr>
          <a:xfrm>
            <a:off x="783770" y="1427212"/>
            <a:ext cx="9797144" cy="4093428"/>
          </a:xfrm>
          <a:prstGeom prst="rect">
            <a:avLst/>
          </a:prstGeom>
          <a:noFill/>
        </p:spPr>
        <p:txBody>
          <a:bodyPr wrap="square">
            <a:spAutoFit/>
          </a:bodyPr>
          <a:lstStyle/>
          <a:p>
            <a:pPr marL="800100" lvl="1" indent="-342900" fontAlgn="base">
              <a:buFont typeface="Arial" panose="020B0604020202020204" pitchFamily="34" charset="0"/>
              <a:buChar char="•"/>
            </a:pPr>
            <a:r>
              <a:rPr lang="en-US" sz="2000" b="1" dirty="0">
                <a:solidFill>
                  <a:srgbClr val="273239"/>
                </a:solidFill>
                <a:latin typeface="Calibri" panose="020F0502020204030204" pitchFamily="34" charset="0"/>
                <a:ea typeface="Calibri" panose="020F0502020204030204" pitchFamily="34" charset="0"/>
                <a:cs typeface="Calibri" panose="020F0502020204030204" pitchFamily="34" charset="0"/>
              </a:rPr>
              <a:t>Improved Accuracy </a:t>
            </a:r>
            <a:r>
              <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rPr>
              <a:t>– Boosting can improve the accuracy of the model by combining several weak models’ accuracies and averaging them for regression or voting over them for classification to increase the accuracy of the final model. </a:t>
            </a:r>
          </a:p>
          <a:p>
            <a:pPr lvl="1" fontAlgn="base"/>
            <a:endPar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800100" lvl="1" indent="-342900" fontAlgn="base">
              <a:buFont typeface="Arial" panose="020B0604020202020204" pitchFamily="34" charset="0"/>
              <a:buChar char="•"/>
            </a:pPr>
            <a:r>
              <a:rPr lang="en-US" sz="2000" b="1" dirty="0">
                <a:solidFill>
                  <a:srgbClr val="273239"/>
                </a:solidFill>
                <a:latin typeface="Calibri" panose="020F0502020204030204" pitchFamily="34" charset="0"/>
                <a:ea typeface="Calibri" panose="020F0502020204030204" pitchFamily="34" charset="0"/>
                <a:cs typeface="Calibri" panose="020F0502020204030204" pitchFamily="34" charset="0"/>
              </a:rPr>
              <a:t>Robustness to Overfitting </a:t>
            </a:r>
            <a:r>
              <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rPr>
              <a:t>– Boosting can reduce the risk of overfitting by reweighting the inputs that are classified wrongly. </a:t>
            </a:r>
          </a:p>
          <a:p>
            <a:pPr lvl="1" fontAlgn="base"/>
            <a:endPar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800100" lvl="1" indent="-342900" fontAlgn="base">
              <a:buFont typeface="Arial" panose="020B0604020202020204" pitchFamily="34" charset="0"/>
              <a:buChar char="•"/>
            </a:pPr>
            <a:r>
              <a:rPr lang="en-US" sz="2000" b="1" dirty="0">
                <a:solidFill>
                  <a:srgbClr val="273239"/>
                </a:solidFill>
                <a:latin typeface="Calibri" panose="020F0502020204030204" pitchFamily="34" charset="0"/>
                <a:ea typeface="Calibri" panose="020F0502020204030204" pitchFamily="34" charset="0"/>
                <a:cs typeface="Calibri" panose="020F0502020204030204" pitchFamily="34" charset="0"/>
              </a:rPr>
              <a:t>Better handling of imbalanced data </a:t>
            </a:r>
            <a:r>
              <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rPr>
              <a:t>– Boosting can handle the imbalance data by focusing more on the data points that are misclassified </a:t>
            </a:r>
          </a:p>
          <a:p>
            <a:pPr marL="800100" lvl="1" indent="-342900" fontAlgn="base">
              <a:buFont typeface="Arial" panose="020B0604020202020204" pitchFamily="34" charset="0"/>
              <a:buChar char="•"/>
            </a:pPr>
            <a:endPar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800100" lvl="1" indent="-342900" fontAlgn="base">
              <a:buFont typeface="Arial" panose="020B0604020202020204" pitchFamily="34" charset="0"/>
              <a:buChar char="•"/>
            </a:pPr>
            <a:r>
              <a:rPr lang="en-US" sz="2000" b="1" dirty="0">
                <a:solidFill>
                  <a:srgbClr val="273239"/>
                </a:solidFill>
                <a:latin typeface="Calibri" panose="020F0502020204030204" pitchFamily="34" charset="0"/>
                <a:ea typeface="Calibri" panose="020F0502020204030204" pitchFamily="34" charset="0"/>
                <a:cs typeface="Calibri" panose="020F0502020204030204" pitchFamily="34" charset="0"/>
              </a:rPr>
              <a:t>Better Interpretability </a:t>
            </a:r>
            <a:r>
              <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rPr>
              <a:t>– Boosting can increase the interpretability of the model by breaking the model decision process into multiple processes.  </a:t>
            </a:r>
          </a:p>
          <a:p>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Advantages of Boosting</a:t>
            </a:r>
          </a:p>
        </p:txBody>
      </p:sp>
    </p:spTree>
    <p:extLst>
      <p:ext uri="{BB962C8B-B14F-4D97-AF65-F5344CB8AC3E}">
        <p14:creationId xmlns:p14="http://schemas.microsoft.com/office/powerpoint/2010/main" val="2807973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C94D5F-D96D-794C-EE65-CCED355F605A}"/>
              </a:ext>
            </a:extLst>
          </p:cNvPr>
          <p:cNvSpPr txBox="1"/>
          <p:nvPr/>
        </p:nvSpPr>
        <p:spPr>
          <a:xfrm>
            <a:off x="1511558" y="1147293"/>
            <a:ext cx="7175242" cy="4401205"/>
          </a:xfrm>
          <a:prstGeom prst="rect">
            <a:avLst/>
          </a:prstGeom>
          <a:noFill/>
        </p:spPr>
        <p:txBody>
          <a:bodyPr wrap="square">
            <a:spAutoFit/>
          </a:bodyPr>
          <a:lstStyle/>
          <a:p>
            <a:pPr marL="457200" indent="-457200">
              <a:buFont typeface="Arial" panose="020B0604020202020204" pitchFamily="34" charset="0"/>
              <a:buChar char="•"/>
            </a:pPr>
            <a:r>
              <a:rPr lang="en-IN" sz="2000" i="0" dirty="0" err="1">
                <a:solidFill>
                  <a:srgbClr val="273239"/>
                </a:solidFill>
                <a:effectLst/>
                <a:latin typeface="Calibri" panose="020F0502020204030204" pitchFamily="34" charset="0"/>
                <a:ea typeface="Calibri" panose="020F0502020204030204" pitchFamily="34" charset="0"/>
                <a:cs typeface="Calibri" panose="020F0502020204030204" pitchFamily="34" charset="0"/>
              </a:rPr>
              <a:t>Adaboost</a:t>
            </a:r>
            <a:r>
              <a:rPr lang="en-IN"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(Adaptive Boosting)</a:t>
            </a:r>
          </a:p>
          <a:p>
            <a:pPr marL="342900" indent="-342900">
              <a:buFont typeface="Arial" panose="020B0604020202020204" pitchFamily="34" charset="0"/>
              <a:buChar char="•"/>
            </a:pPr>
            <a:endParaRPr lang="en-IN"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IN"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Gradient Boosting </a:t>
            </a:r>
          </a:p>
          <a:p>
            <a:pPr marL="342900" indent="-342900">
              <a:buFont typeface="Arial" panose="020B0604020202020204" pitchFamily="34" charset="0"/>
              <a:buChar char="•"/>
            </a:pPr>
            <a:endParaRPr lang="en-IN" sz="2000"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IN" sz="2000" i="0" dirty="0" err="1">
                <a:solidFill>
                  <a:srgbClr val="273239"/>
                </a:solidFill>
                <a:effectLst/>
                <a:latin typeface="Calibri" panose="020F0502020204030204" pitchFamily="34" charset="0"/>
                <a:ea typeface="Calibri" panose="020F0502020204030204" pitchFamily="34" charset="0"/>
                <a:cs typeface="Calibri" panose="020F0502020204030204" pitchFamily="34" charset="0"/>
              </a:rPr>
              <a:t>XGBoost</a:t>
            </a:r>
            <a:r>
              <a:rPr lang="en-IN"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(Extreme Gradient Boosting)</a:t>
            </a:r>
          </a:p>
          <a:p>
            <a:pPr marL="342900" indent="-342900">
              <a:buFont typeface="Arial" panose="020B0604020202020204" pitchFamily="34" charset="0"/>
              <a:buChar char="•"/>
            </a:pPr>
            <a:endParaRPr lang="en-IN"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IN" sz="2000" i="0" dirty="0" err="1">
                <a:solidFill>
                  <a:srgbClr val="273239"/>
                </a:solidFill>
                <a:effectLst/>
                <a:latin typeface="Calibri" panose="020F0502020204030204" pitchFamily="34" charset="0"/>
                <a:ea typeface="Calibri" panose="020F0502020204030204" pitchFamily="34" charset="0"/>
                <a:cs typeface="Calibri" panose="020F0502020204030204" pitchFamily="34" charset="0"/>
              </a:rPr>
              <a:t>CatBoost</a:t>
            </a:r>
            <a:r>
              <a:rPr lang="en-IN"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(Category Boosting)</a:t>
            </a:r>
          </a:p>
          <a:p>
            <a:pPr marL="342900" indent="-342900">
              <a:buFont typeface="Arial" panose="020B0604020202020204" pitchFamily="34" charset="0"/>
              <a:buChar char="•"/>
            </a:pPr>
            <a:endParaRPr lang="en-IN"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IN" sz="2000" dirty="0">
                <a:solidFill>
                  <a:srgbClr val="273239"/>
                </a:solidFill>
                <a:latin typeface="Calibri" panose="020F0502020204030204" pitchFamily="34" charset="0"/>
                <a:ea typeface="Calibri" panose="020F0502020204030204" pitchFamily="34" charset="0"/>
                <a:cs typeface="Calibri" panose="020F0502020204030204" pitchFamily="34" charset="0"/>
              </a:rPr>
              <a:t>Light GBM (Light </a:t>
            </a:r>
            <a:r>
              <a:rPr lang="en-IN"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Gradient Boosting Machine)</a:t>
            </a:r>
          </a:p>
          <a:p>
            <a:pPr marL="342900" indent="-342900">
              <a:buFont typeface="Arial" panose="020B0604020202020204" pitchFamily="34" charset="0"/>
              <a:buChar char="•"/>
            </a:pPr>
            <a:endParaRPr lang="en-IN"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IN" sz="2000" dirty="0">
                <a:solidFill>
                  <a:srgbClr val="273239"/>
                </a:solidFill>
                <a:latin typeface="Calibri" panose="020F0502020204030204" pitchFamily="34" charset="0"/>
                <a:ea typeface="Calibri" panose="020F0502020204030204" pitchFamily="34" charset="0"/>
                <a:cs typeface="Calibri" panose="020F0502020204030204" pitchFamily="34" charset="0"/>
              </a:rPr>
              <a:t>Stochastic </a:t>
            </a:r>
            <a:r>
              <a:rPr lang="en-IN"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Gradient Boosting</a:t>
            </a:r>
          </a:p>
          <a:p>
            <a:pPr marL="342900" indent="-342900">
              <a:buFont typeface="Arial" panose="020B0604020202020204" pitchFamily="34" charset="0"/>
              <a:buChar char="•"/>
            </a:pPr>
            <a:endParaRPr lang="en-IN"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IN" sz="2000" dirty="0">
                <a:solidFill>
                  <a:srgbClr val="273239"/>
                </a:solidFill>
                <a:latin typeface="Calibri" panose="020F0502020204030204" pitchFamily="34" charset="0"/>
                <a:ea typeface="Calibri" panose="020F0502020204030204" pitchFamily="34" charset="0"/>
                <a:cs typeface="Calibri" panose="020F0502020204030204" pitchFamily="34" charset="0"/>
              </a:rPr>
              <a:t>HP Boost (High-Performance Boosting)</a:t>
            </a:r>
          </a:p>
          <a:p>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Boosting Algorithms</a:t>
            </a:r>
          </a:p>
        </p:txBody>
      </p:sp>
    </p:spTree>
    <p:extLst>
      <p:ext uri="{BB962C8B-B14F-4D97-AF65-F5344CB8AC3E}">
        <p14:creationId xmlns:p14="http://schemas.microsoft.com/office/powerpoint/2010/main" val="1794136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Bagging vs Boosting</a:t>
            </a:r>
          </a:p>
        </p:txBody>
      </p:sp>
      <p:pic>
        <p:nvPicPr>
          <p:cNvPr id="4" name="Picture 3">
            <a:extLst>
              <a:ext uri="{FF2B5EF4-FFF2-40B4-BE49-F238E27FC236}">
                <a16:creationId xmlns:a16="http://schemas.microsoft.com/office/drawing/2014/main" id="{14288B83-A3DD-F908-4CA5-8F092358684B}"/>
              </a:ext>
            </a:extLst>
          </p:cNvPr>
          <p:cNvPicPr>
            <a:picLocks noChangeAspect="1"/>
          </p:cNvPicPr>
          <p:nvPr/>
        </p:nvPicPr>
        <p:blipFill>
          <a:blip r:embed="rId2"/>
          <a:stretch>
            <a:fillRect/>
          </a:stretch>
        </p:blipFill>
        <p:spPr>
          <a:xfrm>
            <a:off x="1575028" y="977124"/>
            <a:ext cx="7962702" cy="4108060"/>
          </a:xfrm>
          <a:prstGeom prst="rect">
            <a:avLst/>
          </a:prstGeom>
        </p:spPr>
      </p:pic>
      <p:sp>
        <p:nvSpPr>
          <p:cNvPr id="3" name="TextBox 2">
            <a:extLst>
              <a:ext uri="{FF2B5EF4-FFF2-40B4-BE49-F238E27FC236}">
                <a16:creationId xmlns:a16="http://schemas.microsoft.com/office/drawing/2014/main" id="{29AA306D-8CE2-84EF-22DB-D51513573271}"/>
              </a:ext>
            </a:extLst>
          </p:cNvPr>
          <p:cNvSpPr txBox="1"/>
          <p:nvPr/>
        </p:nvSpPr>
        <p:spPr>
          <a:xfrm>
            <a:off x="1073021" y="5298529"/>
            <a:ext cx="9013372" cy="707886"/>
          </a:xfrm>
          <a:prstGeom prst="rect">
            <a:avLst/>
          </a:prstGeom>
          <a:noFill/>
        </p:spPr>
        <p:txBody>
          <a:bodyPr wrap="square">
            <a:spAutoFit/>
          </a:bodyPr>
          <a:lstStyle/>
          <a:p>
            <a:r>
              <a:rPr lang="en-IN" sz="2000" dirty="0">
                <a:latin typeface="Calibri" panose="020F0502020204030204" pitchFamily="34" charset="0"/>
                <a:ea typeface="Calibri" panose="020F0502020204030204" pitchFamily="34" charset="0"/>
                <a:cs typeface="Calibri" panose="020F0502020204030204" pitchFamily="34" charset="0"/>
              </a:rPr>
              <a:t>Bagging is used in Random Forest, The data set is divided into multiple groups, and then run Decision tree is on each group</a:t>
            </a:r>
          </a:p>
        </p:txBody>
      </p:sp>
    </p:spTree>
    <p:extLst>
      <p:ext uri="{BB962C8B-B14F-4D97-AF65-F5344CB8AC3E}">
        <p14:creationId xmlns:p14="http://schemas.microsoft.com/office/powerpoint/2010/main" val="2021610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Boosting vs Bagging</a:t>
            </a:r>
          </a:p>
        </p:txBody>
      </p:sp>
      <p:graphicFrame>
        <p:nvGraphicFramePr>
          <p:cNvPr id="2" name="Table 1">
            <a:extLst>
              <a:ext uri="{FF2B5EF4-FFF2-40B4-BE49-F238E27FC236}">
                <a16:creationId xmlns:a16="http://schemas.microsoft.com/office/drawing/2014/main" id="{8BA4807E-671D-E628-F4FF-8F5AAE931A74}"/>
              </a:ext>
            </a:extLst>
          </p:cNvPr>
          <p:cNvGraphicFramePr>
            <a:graphicFrameLocks noGrp="1"/>
          </p:cNvGraphicFramePr>
          <p:nvPr>
            <p:extLst>
              <p:ext uri="{D42A27DB-BD31-4B8C-83A1-F6EECF244321}">
                <p14:modId xmlns:p14="http://schemas.microsoft.com/office/powerpoint/2010/main" val="2737857070"/>
              </p:ext>
            </p:extLst>
          </p:nvPr>
        </p:nvGraphicFramePr>
        <p:xfrm>
          <a:off x="595604" y="1524000"/>
          <a:ext cx="10515600" cy="3810000"/>
        </p:xfrm>
        <a:graphic>
          <a:graphicData uri="http://schemas.openxmlformats.org/drawingml/2006/table">
            <a:tbl>
              <a:tblPr/>
              <a:tblGrid>
                <a:gridCol w="5257800">
                  <a:extLst>
                    <a:ext uri="{9D8B030D-6E8A-4147-A177-3AD203B41FA5}">
                      <a16:colId xmlns:a16="http://schemas.microsoft.com/office/drawing/2014/main" val="1443769603"/>
                    </a:ext>
                  </a:extLst>
                </a:gridCol>
                <a:gridCol w="5257800">
                  <a:extLst>
                    <a:ext uri="{9D8B030D-6E8A-4147-A177-3AD203B41FA5}">
                      <a16:colId xmlns:a16="http://schemas.microsoft.com/office/drawing/2014/main" val="3959151170"/>
                    </a:ext>
                  </a:extLst>
                </a:gridCol>
              </a:tblGrid>
              <a:tr h="0">
                <a:tc>
                  <a:txBody>
                    <a:bodyPr/>
                    <a:lstStyle/>
                    <a:p>
                      <a:pPr algn="l" fontAlgn="ctr"/>
                      <a:r>
                        <a:rPr lang="en-IN" sz="2000" b="1" dirty="0">
                          <a:effectLst/>
                          <a:latin typeface="Calibri" panose="020F0502020204030204" pitchFamily="34" charset="0"/>
                          <a:ea typeface="Calibri" panose="020F0502020204030204" pitchFamily="34" charset="0"/>
                          <a:cs typeface="Calibri" panose="020F0502020204030204" pitchFamily="34" charset="0"/>
                        </a:rPr>
                        <a:t> Boosting                       </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ctr"/>
                      <a:r>
                        <a:rPr lang="en-IN" sz="2000" b="1" dirty="0">
                          <a:effectLst/>
                          <a:latin typeface="Calibri" panose="020F0502020204030204" pitchFamily="34" charset="0"/>
                          <a:ea typeface="Calibri" panose="020F0502020204030204" pitchFamily="34" charset="0"/>
                          <a:cs typeface="Calibri" panose="020F0502020204030204" pitchFamily="34" charset="0"/>
                        </a:rPr>
                        <a:t>Bagging                                </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758656309"/>
                  </a:ext>
                </a:extLst>
              </a:tr>
              <a:tr h="0">
                <a:tc>
                  <a:txBody>
                    <a:bodyPr/>
                    <a:lstStyle/>
                    <a:p>
                      <a:pPr algn="l" fontAlgn="ctr"/>
                      <a:r>
                        <a:rPr lang="en-US" sz="2000" b="0" dirty="0">
                          <a:effectLst/>
                          <a:latin typeface="Calibri" panose="020F0502020204030204" pitchFamily="34" charset="0"/>
                          <a:ea typeface="Calibri" panose="020F0502020204030204" pitchFamily="34" charset="0"/>
                          <a:cs typeface="Calibri" panose="020F0502020204030204" pitchFamily="34" charset="0"/>
                        </a:rPr>
                        <a:t>In Boosting we combine predictions that belong to different types </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2000" b="0">
                          <a:effectLst/>
                          <a:latin typeface="Calibri" panose="020F0502020204030204" pitchFamily="34" charset="0"/>
                          <a:ea typeface="Calibri" panose="020F0502020204030204" pitchFamily="34" charset="0"/>
                          <a:cs typeface="Calibri" panose="020F0502020204030204" pitchFamily="34" charset="0"/>
                        </a:rPr>
                        <a:t>Bagging is a method of combining the same type of prediction</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74396233"/>
                  </a:ext>
                </a:extLst>
              </a:tr>
              <a:tr h="0">
                <a:tc>
                  <a:txBody>
                    <a:bodyPr/>
                    <a:lstStyle/>
                    <a:p>
                      <a:pPr algn="l" fontAlgn="ctr"/>
                      <a:r>
                        <a:rPr lang="en-US" sz="2000" b="0" dirty="0">
                          <a:effectLst/>
                          <a:latin typeface="Calibri" panose="020F0502020204030204" pitchFamily="34" charset="0"/>
                          <a:ea typeface="Calibri" panose="020F0502020204030204" pitchFamily="34" charset="0"/>
                          <a:cs typeface="Calibri" panose="020F0502020204030204" pitchFamily="34" charset="0"/>
                        </a:rPr>
                        <a:t>The main aim of boosting is to decrease bias, not variance  </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2000" b="0" dirty="0">
                          <a:effectLst/>
                          <a:latin typeface="Calibri" panose="020F0502020204030204" pitchFamily="34" charset="0"/>
                          <a:ea typeface="Calibri" panose="020F0502020204030204" pitchFamily="34" charset="0"/>
                          <a:cs typeface="Calibri" panose="020F0502020204030204" pitchFamily="34" charset="0"/>
                        </a:rPr>
                        <a:t>The main aim of bagging is to decrease variance not bias</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30571219"/>
                  </a:ext>
                </a:extLst>
              </a:tr>
              <a:tr h="0">
                <a:tc>
                  <a:txBody>
                    <a:bodyPr/>
                    <a:lstStyle/>
                    <a:p>
                      <a:pPr algn="l" fontAlgn="ctr"/>
                      <a:r>
                        <a:rPr lang="en-US" sz="2000" b="0">
                          <a:effectLst/>
                          <a:latin typeface="Calibri" panose="020F0502020204030204" pitchFamily="34" charset="0"/>
                          <a:ea typeface="Calibri" panose="020F0502020204030204" pitchFamily="34" charset="0"/>
                          <a:cs typeface="Calibri" panose="020F0502020204030204" pitchFamily="34" charset="0"/>
                        </a:rPr>
                        <a:t>At every successive layer Models are weighted according to their performance.</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2000" b="0" dirty="0">
                          <a:effectLst/>
                          <a:latin typeface="Calibri" panose="020F0502020204030204" pitchFamily="34" charset="0"/>
                          <a:ea typeface="Calibri" panose="020F0502020204030204" pitchFamily="34" charset="0"/>
                          <a:cs typeface="Calibri" panose="020F0502020204030204" pitchFamily="34" charset="0"/>
                        </a:rPr>
                        <a:t>All the models have the same weightage</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66195651"/>
                  </a:ext>
                </a:extLst>
              </a:tr>
              <a:tr h="0">
                <a:tc>
                  <a:txBody>
                    <a:bodyPr/>
                    <a:lstStyle/>
                    <a:p>
                      <a:pPr algn="l" fontAlgn="ctr"/>
                      <a:r>
                        <a:rPr lang="en-US" sz="2000" b="0">
                          <a:effectLst/>
                          <a:latin typeface="Calibri" panose="020F0502020204030204" pitchFamily="34" charset="0"/>
                          <a:ea typeface="Calibri" panose="020F0502020204030204" pitchFamily="34" charset="0"/>
                          <a:cs typeface="Calibri" panose="020F0502020204030204" pitchFamily="34" charset="0"/>
                        </a:rPr>
                        <a:t>New Models are influenced by the accuracy of previous Models</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US" sz="2000" b="0" dirty="0">
                          <a:effectLst/>
                          <a:latin typeface="Calibri" panose="020F0502020204030204" pitchFamily="34" charset="0"/>
                          <a:ea typeface="Calibri" panose="020F0502020204030204" pitchFamily="34" charset="0"/>
                          <a:cs typeface="Calibri" panose="020F0502020204030204" pitchFamily="34" charset="0"/>
                        </a:rPr>
                        <a:t>All the models are independent of each other</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49995737"/>
                  </a:ext>
                </a:extLst>
              </a:tr>
            </a:tbl>
          </a:graphicData>
        </a:graphic>
      </p:graphicFrame>
    </p:spTree>
    <p:extLst>
      <p:ext uri="{BB962C8B-B14F-4D97-AF65-F5344CB8AC3E}">
        <p14:creationId xmlns:p14="http://schemas.microsoft.com/office/powerpoint/2010/main" val="213937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F1498-DA8F-86CB-A0EE-3DB382013812}"/>
              </a:ext>
            </a:extLst>
          </p:cNvPr>
          <p:cNvSpPr>
            <a:spLocks noGrp="1"/>
          </p:cNvSpPr>
          <p:nvPr>
            <p:ph type="title"/>
          </p:nvPr>
        </p:nvSpPr>
        <p:spPr>
          <a:xfrm>
            <a:off x="1570653" y="2322576"/>
            <a:ext cx="9050694" cy="1901952"/>
          </a:xfrm>
        </p:spPr>
        <p:txBody>
          <a:bodyPr/>
          <a:lstStyle/>
          <a:p>
            <a:pPr algn="ctr"/>
            <a:r>
              <a:rPr lang="en-IN" dirty="0">
                <a:latin typeface="Arial Rounded MT Bold" panose="020F0704030504030204" pitchFamily="34" charset="0"/>
              </a:rPr>
              <a:t>ADA BOOST</a:t>
            </a:r>
          </a:p>
        </p:txBody>
      </p:sp>
      <p:sp>
        <p:nvSpPr>
          <p:cNvPr id="4" name="Text Placeholder 3">
            <a:extLst>
              <a:ext uri="{FF2B5EF4-FFF2-40B4-BE49-F238E27FC236}">
                <a16:creationId xmlns:a16="http://schemas.microsoft.com/office/drawing/2014/main" id="{233BC5B3-3977-012E-E7FE-F46AD8F7E399}"/>
              </a:ext>
            </a:extLst>
          </p:cNvPr>
          <p:cNvSpPr>
            <a:spLocks noGrp="1"/>
          </p:cNvSpPr>
          <p:nvPr>
            <p:ph type="body" sz="quarter" idx="14"/>
          </p:nvPr>
        </p:nvSpPr>
        <p:spPr/>
        <p:txBody>
          <a:bodyPr/>
          <a:lstStyle/>
          <a:p>
            <a:endParaRPr lang="en-IN" dirty="0"/>
          </a:p>
        </p:txBody>
      </p:sp>
      <p:sp>
        <p:nvSpPr>
          <p:cNvPr id="5" name="Text Placeholder 4">
            <a:extLst>
              <a:ext uri="{FF2B5EF4-FFF2-40B4-BE49-F238E27FC236}">
                <a16:creationId xmlns:a16="http://schemas.microsoft.com/office/drawing/2014/main" id="{E391707F-5BDB-0D97-D0BF-7E6D65544EE0}"/>
              </a:ext>
            </a:extLst>
          </p:cNvPr>
          <p:cNvSpPr>
            <a:spLocks noGrp="1"/>
          </p:cNvSpPr>
          <p:nvPr>
            <p:ph type="body" sz="quarter" idx="15"/>
          </p:nvPr>
        </p:nvSpPr>
        <p:spPr/>
        <p:txBody>
          <a:bodyPr/>
          <a:lstStyle/>
          <a:p>
            <a:endParaRPr lang="en-IN" dirty="0"/>
          </a:p>
        </p:txBody>
      </p:sp>
    </p:spTree>
    <p:extLst>
      <p:ext uri="{BB962C8B-B14F-4D97-AF65-F5344CB8AC3E}">
        <p14:creationId xmlns:p14="http://schemas.microsoft.com/office/powerpoint/2010/main" val="793165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C94D5F-D96D-794C-EE65-CCED355F605A}"/>
              </a:ext>
            </a:extLst>
          </p:cNvPr>
          <p:cNvSpPr txBox="1"/>
          <p:nvPr/>
        </p:nvSpPr>
        <p:spPr>
          <a:xfrm>
            <a:off x="783770" y="1427212"/>
            <a:ext cx="9405258" cy="1631216"/>
          </a:xfrm>
          <a:prstGeom prst="rect">
            <a:avLst/>
          </a:prstGeom>
          <a:noFill/>
        </p:spPr>
        <p:txBody>
          <a:bodyPr wrap="square">
            <a:spAutoFit/>
          </a:bodyPr>
          <a:lstStyle/>
          <a:p>
            <a:r>
              <a:rPr lang="en-US" sz="2000" b="0" i="0" dirty="0">
                <a:solidFill>
                  <a:srgbClr val="202124"/>
                </a:solidFill>
                <a:effectLst/>
                <a:latin typeface="Calibri" panose="020F0502020204030204" pitchFamily="34" charset="0"/>
                <a:ea typeface="Calibri" panose="020F0502020204030204" pitchFamily="34" charset="0"/>
                <a:cs typeface="Calibri" panose="020F0502020204030204" pitchFamily="34" charset="0"/>
              </a:rPr>
              <a:t>AdaBoost, short for Adaptive Boosting, is </a:t>
            </a:r>
            <a:r>
              <a:rPr lang="en-US" sz="2000" b="0" i="0" dirty="0">
                <a:solidFill>
                  <a:srgbClr val="040C28"/>
                </a:solidFill>
                <a:effectLst/>
                <a:latin typeface="Calibri" panose="020F0502020204030204" pitchFamily="34" charset="0"/>
                <a:ea typeface="Calibri" panose="020F0502020204030204" pitchFamily="34" charset="0"/>
                <a:cs typeface="Calibri" panose="020F0502020204030204" pitchFamily="34" charset="0"/>
              </a:rPr>
              <a:t>an ensemble machine learning algorithm that can be used in a wide variety of classification and regression tasks</a:t>
            </a:r>
            <a:r>
              <a:rPr lang="en-US" sz="2000" b="0" i="0" dirty="0">
                <a:solidFill>
                  <a:srgbClr val="202124"/>
                </a:solidFill>
                <a:effectLst/>
                <a:latin typeface="Calibri" panose="020F0502020204030204" pitchFamily="34" charset="0"/>
                <a:ea typeface="Calibri" panose="020F0502020204030204" pitchFamily="34" charset="0"/>
                <a:cs typeface="Calibri" panose="020F0502020204030204" pitchFamily="34" charset="0"/>
              </a:rPr>
              <a:t>.</a:t>
            </a:r>
          </a:p>
          <a:p>
            <a:endParaRPr lang="en-US" sz="2000" dirty="0">
              <a:solidFill>
                <a:srgbClr val="202124"/>
              </a:solidFill>
              <a:latin typeface="Calibri" panose="020F0502020204030204" pitchFamily="34" charset="0"/>
              <a:ea typeface="Calibri" panose="020F0502020204030204" pitchFamily="34" charset="0"/>
              <a:cs typeface="Calibri" panose="020F0502020204030204" pitchFamily="34" charset="0"/>
            </a:endParaRPr>
          </a:p>
          <a:p>
            <a:r>
              <a:rPr lang="en-US" sz="2000" b="0" i="0" dirty="0">
                <a:solidFill>
                  <a:srgbClr val="202124"/>
                </a:solidFill>
                <a:effectLst/>
                <a:latin typeface="Calibri" panose="020F0502020204030204" pitchFamily="34" charset="0"/>
                <a:ea typeface="Calibri" panose="020F0502020204030204" pitchFamily="34" charset="0"/>
                <a:cs typeface="Calibri" panose="020F0502020204030204" pitchFamily="34" charset="0"/>
              </a:rPr>
              <a:t> It is a supervised learning algorithm that is used to classify data by combining multiple weak or base learners (e.g., decision trees) into a strong learner.</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Ada Boost</a:t>
            </a:r>
          </a:p>
        </p:txBody>
      </p:sp>
    </p:spTree>
    <p:extLst>
      <p:ext uri="{BB962C8B-B14F-4D97-AF65-F5344CB8AC3E}">
        <p14:creationId xmlns:p14="http://schemas.microsoft.com/office/powerpoint/2010/main" val="2646115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Ada Boost</a:t>
            </a:r>
          </a:p>
        </p:txBody>
      </p:sp>
      <p:pic>
        <p:nvPicPr>
          <p:cNvPr id="3" name="Picture 2">
            <a:extLst>
              <a:ext uri="{FF2B5EF4-FFF2-40B4-BE49-F238E27FC236}">
                <a16:creationId xmlns:a16="http://schemas.microsoft.com/office/drawing/2014/main" id="{FB8A145C-8172-E109-9DE6-E0FC59CD665C}"/>
              </a:ext>
            </a:extLst>
          </p:cNvPr>
          <p:cNvPicPr>
            <a:picLocks noChangeAspect="1"/>
          </p:cNvPicPr>
          <p:nvPr/>
        </p:nvPicPr>
        <p:blipFill>
          <a:blip r:embed="rId2"/>
          <a:stretch>
            <a:fillRect/>
          </a:stretch>
        </p:blipFill>
        <p:spPr>
          <a:xfrm>
            <a:off x="902436" y="1314399"/>
            <a:ext cx="10495456" cy="4451919"/>
          </a:xfrm>
          <a:prstGeom prst="rect">
            <a:avLst/>
          </a:prstGeom>
        </p:spPr>
      </p:pic>
    </p:spTree>
    <p:extLst>
      <p:ext uri="{BB962C8B-B14F-4D97-AF65-F5344CB8AC3E}">
        <p14:creationId xmlns:p14="http://schemas.microsoft.com/office/powerpoint/2010/main" val="747605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Ada Boost</a:t>
            </a:r>
          </a:p>
        </p:txBody>
      </p:sp>
      <p:pic>
        <p:nvPicPr>
          <p:cNvPr id="4" name="Picture 3">
            <a:extLst>
              <a:ext uri="{FF2B5EF4-FFF2-40B4-BE49-F238E27FC236}">
                <a16:creationId xmlns:a16="http://schemas.microsoft.com/office/drawing/2014/main" id="{52107009-836D-B9E5-1527-D1B43AD954E6}"/>
              </a:ext>
            </a:extLst>
          </p:cNvPr>
          <p:cNvPicPr>
            <a:picLocks noChangeAspect="1"/>
          </p:cNvPicPr>
          <p:nvPr/>
        </p:nvPicPr>
        <p:blipFill>
          <a:blip r:embed="rId2"/>
          <a:stretch>
            <a:fillRect/>
          </a:stretch>
        </p:blipFill>
        <p:spPr>
          <a:xfrm>
            <a:off x="847435" y="1165797"/>
            <a:ext cx="10748981" cy="4600521"/>
          </a:xfrm>
          <a:prstGeom prst="rect">
            <a:avLst/>
          </a:prstGeom>
        </p:spPr>
      </p:pic>
    </p:spTree>
    <p:extLst>
      <p:ext uri="{BB962C8B-B14F-4D97-AF65-F5344CB8AC3E}">
        <p14:creationId xmlns:p14="http://schemas.microsoft.com/office/powerpoint/2010/main" val="106339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Ada Boost</a:t>
            </a:r>
          </a:p>
        </p:txBody>
      </p:sp>
      <p:pic>
        <p:nvPicPr>
          <p:cNvPr id="3" name="Picture 2">
            <a:extLst>
              <a:ext uri="{FF2B5EF4-FFF2-40B4-BE49-F238E27FC236}">
                <a16:creationId xmlns:a16="http://schemas.microsoft.com/office/drawing/2014/main" id="{F9CF516C-A4A5-7802-66C3-195005237D4D}"/>
              </a:ext>
            </a:extLst>
          </p:cNvPr>
          <p:cNvPicPr>
            <a:picLocks noChangeAspect="1"/>
          </p:cNvPicPr>
          <p:nvPr/>
        </p:nvPicPr>
        <p:blipFill>
          <a:blip r:embed="rId2"/>
          <a:stretch>
            <a:fillRect/>
          </a:stretch>
        </p:blipFill>
        <p:spPr>
          <a:xfrm>
            <a:off x="1007968" y="1049293"/>
            <a:ext cx="10563039" cy="4922299"/>
          </a:xfrm>
          <a:prstGeom prst="rect">
            <a:avLst/>
          </a:prstGeom>
        </p:spPr>
      </p:pic>
    </p:spTree>
    <p:extLst>
      <p:ext uri="{BB962C8B-B14F-4D97-AF65-F5344CB8AC3E}">
        <p14:creationId xmlns:p14="http://schemas.microsoft.com/office/powerpoint/2010/main" val="1479957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Ada Boost-Flow Chart</a:t>
            </a:r>
          </a:p>
        </p:txBody>
      </p:sp>
      <p:pic>
        <p:nvPicPr>
          <p:cNvPr id="3" name="Picture 2">
            <a:extLst>
              <a:ext uri="{FF2B5EF4-FFF2-40B4-BE49-F238E27FC236}">
                <a16:creationId xmlns:a16="http://schemas.microsoft.com/office/drawing/2014/main" id="{EBE8B717-8967-2BB2-6B5F-C2B892A019F4}"/>
              </a:ext>
            </a:extLst>
          </p:cNvPr>
          <p:cNvPicPr>
            <a:picLocks noChangeAspect="1"/>
          </p:cNvPicPr>
          <p:nvPr/>
        </p:nvPicPr>
        <p:blipFill>
          <a:blip r:embed="rId2"/>
          <a:stretch>
            <a:fillRect/>
          </a:stretch>
        </p:blipFill>
        <p:spPr>
          <a:xfrm>
            <a:off x="1371362" y="1176056"/>
            <a:ext cx="9989333" cy="4590262"/>
          </a:xfrm>
          <a:prstGeom prst="rect">
            <a:avLst/>
          </a:prstGeom>
        </p:spPr>
      </p:pic>
    </p:spTree>
    <p:extLst>
      <p:ext uri="{BB962C8B-B14F-4D97-AF65-F5344CB8AC3E}">
        <p14:creationId xmlns:p14="http://schemas.microsoft.com/office/powerpoint/2010/main" val="763099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053D051-E33A-A589-9676-6FDF533C02F7}"/>
              </a:ext>
            </a:extLst>
          </p:cNvPr>
          <p:cNvSpPr txBox="1"/>
          <p:nvPr/>
        </p:nvSpPr>
        <p:spPr>
          <a:xfrm>
            <a:off x="2621902" y="289249"/>
            <a:ext cx="5868955" cy="584775"/>
          </a:xfrm>
          <a:prstGeom prst="rect">
            <a:avLst/>
          </a:prstGeom>
          <a:noFill/>
        </p:spPr>
        <p:txBody>
          <a:bodyPr wrap="square" rtlCol="0">
            <a:sp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Ada Boost</a:t>
            </a:r>
          </a:p>
        </p:txBody>
      </p:sp>
      <p:pic>
        <p:nvPicPr>
          <p:cNvPr id="3" name="Picture 2">
            <a:extLst>
              <a:ext uri="{FF2B5EF4-FFF2-40B4-BE49-F238E27FC236}">
                <a16:creationId xmlns:a16="http://schemas.microsoft.com/office/drawing/2014/main" id="{61CFC52C-7E3B-9764-DF63-6F1997E8CBA0}"/>
              </a:ext>
            </a:extLst>
          </p:cNvPr>
          <p:cNvPicPr>
            <a:picLocks noChangeAspect="1"/>
          </p:cNvPicPr>
          <p:nvPr/>
        </p:nvPicPr>
        <p:blipFill>
          <a:blip r:embed="rId2"/>
          <a:stretch>
            <a:fillRect/>
          </a:stretch>
        </p:blipFill>
        <p:spPr>
          <a:xfrm>
            <a:off x="1093883" y="1051975"/>
            <a:ext cx="8311374" cy="5213671"/>
          </a:xfrm>
          <a:prstGeom prst="rect">
            <a:avLst/>
          </a:prstGeom>
        </p:spPr>
      </p:pic>
    </p:spTree>
    <p:extLst>
      <p:ext uri="{BB962C8B-B14F-4D97-AF65-F5344CB8AC3E}">
        <p14:creationId xmlns:p14="http://schemas.microsoft.com/office/powerpoint/2010/main" val="450722329"/>
      </p:ext>
    </p:extLst>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FA78568-A730-4D3B-A489-FD854E91254A}">
  <ds:schemaRefs>
    <ds:schemaRef ds:uri="http://schemas.microsoft.com/sharepoint/v3/contenttype/forms"/>
  </ds:schemaRefs>
</ds:datastoreItem>
</file>

<file path=customXml/itemProps3.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{0CBD495F-6F60-4A28-86A3-313002760B2E}tf11429527_win32</Template>
  <TotalTime>1054</TotalTime>
  <Words>455</Words>
  <Application>Microsoft Office PowerPoint</Application>
  <PresentationFormat>Widescreen</PresentationFormat>
  <Paragraphs>55</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Rounded MT Bold</vt:lpstr>
      <vt:lpstr>Calibri</vt:lpstr>
      <vt:lpstr>Century Gothic</vt:lpstr>
      <vt:lpstr>Karla</vt:lpstr>
      <vt:lpstr>Univers Condensed Light</vt:lpstr>
      <vt:lpstr>Office Theme</vt:lpstr>
      <vt:lpstr>Boosting</vt:lpstr>
      <vt:lpstr>PowerPoint Presentation</vt:lpstr>
      <vt:lpstr>PowerPoint Presentation</vt:lpstr>
      <vt:lpstr>PowerPoint Presentation</vt:lpstr>
      <vt:lpstr>PowerPoint Presentation</vt:lpstr>
      <vt:lpstr>PowerPoint Presentation</vt:lpstr>
      <vt:lpstr>PowerPoint Presentation</vt:lpstr>
      <vt:lpstr>ADA BOOST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Statistics </dc:title>
  <dc:creator>Noble Xavier</dc:creator>
  <cp:lastModifiedBy>Noble Xavier</cp:lastModifiedBy>
  <cp:revision>203</cp:revision>
  <dcterms:created xsi:type="dcterms:W3CDTF">2023-08-11T17:08:08Z</dcterms:created>
  <dcterms:modified xsi:type="dcterms:W3CDTF">2026-01-06T05:38:18Z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