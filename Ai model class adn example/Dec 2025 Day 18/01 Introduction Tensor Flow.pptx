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sldIdLst>
    <p:sldId id="284" r:id="rId5"/>
    <p:sldId id="362" r:id="rId6"/>
    <p:sldId id="363" r:id="rId7"/>
    <p:sldId id="364" r:id="rId8"/>
    <p:sldId id="389" r:id="rId9"/>
    <p:sldId id="257" r:id="rId10"/>
    <p:sldId id="365" r:id="rId11"/>
    <p:sldId id="366" r:id="rId12"/>
    <p:sldId id="367" r:id="rId13"/>
    <p:sldId id="260" r:id="rId14"/>
    <p:sldId id="368" r:id="rId15"/>
    <p:sldId id="261" r:id="rId16"/>
    <p:sldId id="369" r:id="rId17"/>
    <p:sldId id="370" r:id="rId18"/>
    <p:sldId id="377" r:id="rId19"/>
    <p:sldId id="378" r:id="rId20"/>
    <p:sldId id="371" r:id="rId21"/>
    <p:sldId id="372" r:id="rId22"/>
    <p:sldId id="373" r:id="rId23"/>
    <p:sldId id="374" r:id="rId24"/>
    <p:sldId id="375" r:id="rId25"/>
    <p:sldId id="376" r:id="rId26"/>
    <p:sldId id="379" r:id="rId27"/>
    <p:sldId id="380" r:id="rId28"/>
    <p:sldId id="381" r:id="rId29"/>
    <p:sldId id="382" r:id="rId30"/>
    <p:sldId id="383" r:id="rId31"/>
    <p:sldId id="384" r:id="rId32"/>
    <p:sldId id="294" r:id="rId33"/>
    <p:sldId id="295" r:id="rId34"/>
    <p:sldId id="296" r:id="rId35"/>
    <p:sldId id="297" r:id="rId36"/>
    <p:sldId id="277" r:id="rId37"/>
    <p:sldId id="385" r:id="rId38"/>
    <p:sldId id="386" r:id="rId39"/>
    <p:sldId id="387" r:id="rId40"/>
    <p:sldId id="299" r:id="rId41"/>
    <p:sldId id="300" r:id="rId42"/>
    <p:sldId id="388" r:id="rId43"/>
    <p:sldId id="30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800" dirty="0">
                <a:latin typeface="Arial Rounded MT Bold" panose="020F0704030504030204" pitchFamily="34" charset="0"/>
              </a:rPr>
              <a:t>Introduction to TensorFlow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0" y="2322576"/>
            <a:ext cx="8276253" cy="1901952"/>
          </a:xfrm>
        </p:spPr>
        <p:txBody>
          <a:bodyPr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DEEP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AD8FD-D67B-D065-7052-E130CC3C88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9E156-81A1-63B1-3A2A-98FD60231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49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8B35-C672-C72E-24C6-E4474B24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1B3B02-9F7B-6D3D-F673-44F3CEF66790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26292-DA27-86F2-C94D-54EC2C8E4E8D}"/>
              </a:ext>
            </a:extLst>
          </p:cNvPr>
          <p:cNvSpPr txBox="1"/>
          <p:nvPr/>
        </p:nvSpPr>
        <p:spPr>
          <a:xfrm>
            <a:off x="1054358" y="1062431"/>
            <a:ext cx="9629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is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type of machine learning that uses artificial neural networks to process data and learn from examples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BBFC64-84B2-ACC3-A0CD-A51A3950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464" y="1922466"/>
            <a:ext cx="4625741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0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CDF3-AD83-16CC-50D6-7BABC1D0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0BD063-BC01-CF63-7031-D4B003BC51CA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052362-80F3-41F0-5BAA-1A2798056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49088"/>
              </p:ext>
            </p:extLst>
          </p:nvPr>
        </p:nvGraphicFramePr>
        <p:xfrm>
          <a:off x="1337387" y="1093017"/>
          <a:ext cx="9887339" cy="4671965"/>
        </p:xfrm>
        <a:graphic>
          <a:graphicData uri="http://schemas.openxmlformats.org/drawingml/2006/table">
            <a:tbl>
              <a:tblPr/>
              <a:tblGrid>
                <a:gridCol w="3185920">
                  <a:extLst>
                    <a:ext uri="{9D8B030D-6E8A-4147-A177-3AD203B41FA5}">
                      <a16:colId xmlns:a16="http://schemas.microsoft.com/office/drawing/2014/main" val="4247731991"/>
                    </a:ext>
                  </a:extLst>
                </a:gridCol>
                <a:gridCol w="6701419">
                  <a:extLst>
                    <a:ext uri="{9D8B030D-6E8A-4147-A177-3AD203B41FA5}">
                      <a16:colId xmlns:a16="http://schemas.microsoft.com/office/drawing/2014/main" val="2716148420"/>
                    </a:ext>
                  </a:extLst>
                </a:gridCol>
              </a:tblGrid>
              <a:tr h="93439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it works</a:t>
                      </a:r>
                    </a:p>
                  </a:txBody>
                  <a:tcPr marR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Uses neural networks with multiple layers to process data</a:t>
                      </a:r>
                    </a:p>
                  </a:txBody>
                  <a:tcPr marL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547632"/>
                  </a:ext>
                </a:extLst>
              </a:tr>
              <a:tr h="93439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 can do</a:t>
                      </a:r>
                    </a:p>
                  </a:txBody>
                  <a:tcPr marR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Recognize patterns, make predictions, and solve complex problems</a:t>
                      </a:r>
                    </a:p>
                  </a:txBody>
                  <a:tcPr marL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84459"/>
                  </a:ext>
                </a:extLst>
              </a:tr>
              <a:tr h="116397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it's used for</a:t>
                      </a:r>
                    </a:p>
                  </a:txBody>
                  <a:tcPr marR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recognition, speech recognition, natural language processing, and more</a:t>
                      </a:r>
                    </a:p>
                  </a:txBody>
                  <a:tcPr marL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57004"/>
                  </a:ext>
                </a:extLst>
              </a:tr>
              <a:tr h="93439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it's different from traditional machine learning</a:t>
                      </a:r>
                    </a:p>
                  </a:txBody>
                  <a:tcPr marR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accurate, autonomous, and can process more types of data</a:t>
                      </a:r>
                    </a:p>
                  </a:txBody>
                  <a:tcPr marL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99253"/>
                  </a:ext>
                </a:extLst>
              </a:tr>
              <a:tr h="704812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 marR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ChatGPT, Bard, Bing Chat, Midjourney, and DALL-E</a:t>
                      </a:r>
                    </a:p>
                  </a:txBody>
                  <a:tcPr marL="762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27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80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D3F5-EE2E-72AA-D5C9-94F2B7DE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71B1B-D4E1-C459-B21F-EDE3C47C1DC4}"/>
              </a:ext>
            </a:extLst>
          </p:cNvPr>
          <p:cNvSpPr txBox="1"/>
          <p:nvPr/>
        </p:nvSpPr>
        <p:spPr>
          <a:xfrm>
            <a:off x="1035698" y="128363"/>
            <a:ext cx="98158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 Between Machine Learning and Deep Learning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7ECF3-4C2D-36A5-FECF-95F7884E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80" y="682361"/>
            <a:ext cx="9479901" cy="553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2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4B8C2-B0FF-4AA9-A9F0-CF8AAFFABFD3}"/>
              </a:ext>
            </a:extLst>
          </p:cNvPr>
          <p:cNvSpPr txBox="1"/>
          <p:nvPr/>
        </p:nvSpPr>
        <p:spPr>
          <a:xfrm>
            <a:off x="1474904" y="1077275"/>
            <a:ext cx="8415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is a subset of Machine Learning and it works on the structure and functions of a human brain.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learns from data that is unstructured and uses complex algorithms to train a neural net.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9D45B-44F5-3171-1B39-5DBF3CF9653B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of Deep Learning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21FD27-D5BC-651D-EA12-E4997C0B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87" y="2957855"/>
            <a:ext cx="5001074" cy="284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6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506C-7F67-EB09-1E16-59F76AE95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573BA-1AD1-8A1A-F3BD-44EFE2BCFB90}"/>
              </a:ext>
            </a:extLst>
          </p:cNvPr>
          <p:cNvSpPr txBox="1"/>
          <p:nvPr/>
        </p:nvSpPr>
        <p:spPr>
          <a:xfrm>
            <a:off x="1474904" y="1011960"/>
            <a:ext cx="8415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deep learning, </a:t>
            </a:r>
            <a:r>
              <a:rPr lang="en-US" sz="2000" b="1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input layer 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first layer in a neural network that receives raw input data, like images, text, or audio, and transforms it into a format the network can understand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B61FF-7937-7FAC-1363-413D1B230D5F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Learning- Input Layer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A20F6-E324-A18E-E779-0E862F64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648" y="3095415"/>
            <a:ext cx="4874952" cy="260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2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B7E5-83D7-4CB7-253F-13EADD3D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C80E0-A709-2E6E-FF7E-2CFC1FAFED6A}"/>
              </a:ext>
            </a:extLst>
          </p:cNvPr>
          <p:cNvSpPr txBox="1"/>
          <p:nvPr/>
        </p:nvSpPr>
        <p:spPr>
          <a:xfrm>
            <a:off x="1474904" y="1123928"/>
            <a:ext cx="8415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In deep learning, </a:t>
            </a:r>
            <a:r>
              <a:rPr lang="en-US" sz="2000" b="1" i="0" dirty="0">
                <a:solidFill>
                  <a:srgbClr val="001D35"/>
                </a:solidFill>
                <a:effectLst/>
                <a:latin typeface="Google Sans"/>
              </a:rPr>
              <a:t>hidden layers 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are the intermediary layers within a neural network, situated between the input and output layers.</a:t>
            </a:r>
          </a:p>
          <a:p>
            <a:endParaRPr lang="en-US" sz="2000" dirty="0">
              <a:solidFill>
                <a:srgbClr val="001D35"/>
              </a:solidFill>
              <a:latin typeface="Google Sans"/>
            </a:endParaRPr>
          </a:p>
          <a:p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These layers are responsible for processing the input data and transforming it into a more complex, learnable representation.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44842-4409-F729-A43F-EBF4F2D32D2F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Learning- Hidden Layer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9200F-BB5C-1E00-FE06-64B8FAA4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269" y="3051161"/>
            <a:ext cx="5636495" cy="30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1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83C3-06B1-0F54-1997-268B92A0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996115-0F79-1FE5-3B40-BF4767EF0C53}"/>
              </a:ext>
            </a:extLst>
          </p:cNvPr>
          <p:cNvSpPr txBox="1"/>
          <p:nvPr/>
        </p:nvSpPr>
        <p:spPr>
          <a:xfrm>
            <a:off x="1474904" y="1123928"/>
            <a:ext cx="8415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deep learning, the output layer is the final layer of a neural network, responsible for producing the network's predictions or classifications.</a:t>
            </a:r>
          </a:p>
          <a:p>
            <a:endParaRPr lang="en-US" sz="2000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receives processed data from the preceding hidden layers and transforms it into a final output suitable for interpretation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07405-25DD-5CFC-B792-9E59427B9F45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Learning- Output Layer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588D4-808A-6573-1164-4971967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895" y="2755144"/>
            <a:ext cx="5157860" cy="350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FD43E3-47A7-E4F9-293F-DE0EF3430E06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Deep Learning Libraries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F89F2-B0F7-326C-7546-686FB156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49" y="1284361"/>
            <a:ext cx="10021916" cy="418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4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AF3FF-ECC0-BDAE-2332-C7A2B82A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F105-3E60-6C46-E95B-B3A7639C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0" y="2322576"/>
            <a:ext cx="8276253" cy="1901952"/>
          </a:xfrm>
        </p:spPr>
        <p:txBody>
          <a:bodyPr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TENSORFLOW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3DA97-3A63-C514-25C6-79FC17E89C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2BCE1-5FA1-9A2E-BDFB-335029E400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06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CC498-F056-9D43-555B-377AC16EDBD1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TensorFlow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3E349-A8F7-5DFF-F346-6DB2AA513195}"/>
              </a:ext>
            </a:extLst>
          </p:cNvPr>
          <p:cNvSpPr txBox="1"/>
          <p:nvPr/>
        </p:nvSpPr>
        <p:spPr>
          <a:xfrm>
            <a:off x="1408921" y="1175152"/>
            <a:ext cx="970383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is an open-source platform and framework for machine learning and deep learning developed by Google. </a:t>
            </a:r>
          </a:p>
          <a:p>
            <a:endParaRPr lang="en-US" sz="2000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It's used to build and train machine learning models, particularly deep neural networks, for a wide range of applications. </a:t>
            </a:r>
          </a:p>
          <a:p>
            <a:endParaRPr lang="en-US" sz="2000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is a flexible framework that can be used on various hardware, including CPUs, GPUs, and TPUs. 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55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C2CB-EA83-FB83-9B4F-0B9596E0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2185F-1111-FBDE-DB43-500EAF1EB915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BCEA8-1777-EB18-E43B-8424D8086B8C}"/>
              </a:ext>
            </a:extLst>
          </p:cNvPr>
          <p:cNvSpPr txBox="1"/>
          <p:nvPr/>
        </p:nvSpPr>
        <p:spPr>
          <a:xfrm>
            <a:off x="1408921" y="1175152"/>
            <a:ext cx="970383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Focus : 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is well-suited for building and training deep neural networks,</a:t>
            </a:r>
            <a:endParaRPr lang="en-IN" sz="2000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be used with various programming languages, including Python, C++, and Java, and runs on different hardware, making it adaptable for diverse needs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Source</a:t>
            </a: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is open-source, meaning it is freely available for use and modification by anyone. 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Large-Scale Applications: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is designed for handling large datasets and complex models, making it suitable for large-scale machine learning projects. 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integrates well with </a:t>
            </a:r>
            <a:r>
              <a:rPr lang="en-US" sz="20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high-level API that simplifies model building and training, making it easier for beginners to get started with deep learning. 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0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F252-F44F-8785-8B3A-608CF0DE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81459D-E739-6A1A-2A44-C4258DFC28FC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TensorFlow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C4D5D-4E79-67FF-9919-B7E0F97F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780" y="1327689"/>
            <a:ext cx="8484135" cy="35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7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A814-021A-F2AC-D160-44EBB9CC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37F1E4-98CE-6B9D-66F8-F7E50BD3C191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Differences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Tensor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264A2-08CA-C5D5-6A9E-B6D277CDAC5C}"/>
              </a:ext>
            </a:extLst>
          </p:cNvPr>
          <p:cNvSpPr txBox="1"/>
          <p:nvPr/>
        </p:nvSpPr>
        <p:spPr>
          <a:xfrm>
            <a:off x="1623526" y="1269164"/>
            <a:ext cx="82762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Keras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is a high-level API for building and training neural networks, while TensorFlow is a low-level machine learning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1D35"/>
              </a:solidFill>
              <a:latin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Keras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is designed for ease of use and rapid prototyping, whereas TensorFlow provides more control and flexibility for complex tasks.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1D35"/>
              </a:solidFill>
              <a:latin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Keras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operates on top of TensorFlow .In essence, using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Keras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means indirectly using TensorFlow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65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649B-97F7-2108-4045-E507E494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EBD2B-40AA-10BB-4F25-976F42660526}"/>
              </a:ext>
            </a:extLst>
          </p:cNvPr>
          <p:cNvSpPr txBox="1"/>
          <p:nvPr/>
        </p:nvSpPr>
        <p:spPr>
          <a:xfrm>
            <a:off x="3181739" y="27391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Differences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Tensor Flow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3B9264-C014-D946-A49A-4C5046A5E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77323"/>
              </p:ext>
            </p:extLst>
          </p:nvPr>
        </p:nvGraphicFramePr>
        <p:xfrm>
          <a:off x="1268197" y="1076529"/>
          <a:ext cx="9919206" cy="4455648"/>
        </p:xfrm>
        <a:graphic>
          <a:graphicData uri="http://schemas.openxmlformats.org/drawingml/2006/table">
            <a:tbl>
              <a:tblPr/>
              <a:tblGrid>
                <a:gridCol w="1904211">
                  <a:extLst>
                    <a:ext uri="{9D8B030D-6E8A-4147-A177-3AD203B41FA5}">
                      <a16:colId xmlns:a16="http://schemas.microsoft.com/office/drawing/2014/main" val="2012878086"/>
                    </a:ext>
                  </a:extLst>
                </a:gridCol>
                <a:gridCol w="4030825">
                  <a:extLst>
                    <a:ext uri="{9D8B030D-6E8A-4147-A177-3AD203B41FA5}">
                      <a16:colId xmlns:a16="http://schemas.microsoft.com/office/drawing/2014/main" val="2972309780"/>
                    </a:ext>
                  </a:extLst>
                </a:gridCol>
                <a:gridCol w="3984170">
                  <a:extLst>
                    <a:ext uri="{9D8B030D-6E8A-4147-A177-3AD203B41FA5}">
                      <a16:colId xmlns:a16="http://schemas.microsoft.com/office/drawing/2014/main" val="653955964"/>
                    </a:ext>
                  </a:extLst>
                </a:gridCol>
              </a:tblGrid>
              <a:tr h="262630"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68887" marR="57406" marT="34443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Keras</a:t>
                      </a:r>
                    </a:p>
                  </a:txBody>
                  <a:tcPr marL="57406" marR="57406" marT="34443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TensorFlow</a:t>
                      </a:r>
                    </a:p>
                  </a:txBody>
                  <a:tcPr marL="57406" marR="68887" marT="34443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030149"/>
                  </a:ext>
                </a:extLst>
              </a:tr>
              <a:tr h="29707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Level of API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High-level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Low-level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019642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Ease of Use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User-friendly, simple syntax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complex, steeper learning curve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751806"/>
                  </a:ext>
                </a:extLst>
              </a:tr>
              <a:tr h="727615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Flexibility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Less flexible, designed for common tasks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Highly flexible, allows for custom implementations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174507"/>
                  </a:ext>
                </a:extLst>
              </a:tr>
              <a:tr h="727615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Comparatively slower for large datasets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Optimized for high performance and speed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697061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Debugging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Easier to debug simple networks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Debugging can be more challenging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64423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Size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Better suited for smaller datasets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Handles large datasets efficiently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858906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 Cases</a:t>
                      </a:r>
                    </a:p>
                  </a:txBody>
                  <a:tcPr marL="68887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Rapid prototyping, simple models</a:t>
                      </a:r>
                    </a:p>
                  </a:txBody>
                  <a:tcPr marL="57406" marR="57406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Complex models, large-scale applications</a:t>
                      </a:r>
                    </a:p>
                  </a:txBody>
                  <a:tcPr marL="57406" marR="68887" marT="68887" marB="688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692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799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D9A2-6B82-B5F0-CE43-A3707AD5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024F-610F-BD6B-FE51-682E1D2C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0" y="2322576"/>
            <a:ext cx="8276253" cy="1901952"/>
          </a:xfrm>
        </p:spPr>
        <p:txBody>
          <a:bodyPr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TENSORS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5EB33-FE20-2AA7-EFBA-AE7D3A7D8F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95CCA-B641-DE04-0F81-BBDD787489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495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439D-E19D-7AFE-2974-EFB7AE54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A2907E-8E8E-5D30-813E-BF49A8977793}"/>
              </a:ext>
            </a:extLst>
          </p:cNvPr>
          <p:cNvSpPr txBox="1"/>
          <p:nvPr/>
        </p:nvSpPr>
        <p:spPr>
          <a:xfrm>
            <a:off x="1472561" y="1046206"/>
            <a:ext cx="97335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deep learning, tensors are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fundamental, multidimensional arrays used to represent and manipulate data, including images, text, and numerical values, during both training and inference.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i="0" dirty="0">
                <a:solidFill>
                  <a:srgbClr val="001D35"/>
                </a:solidFill>
                <a:effectLst/>
                <a:latin typeface="Google Sans"/>
              </a:rPr>
              <a:t>Examples:</a:t>
            </a:r>
            <a:endParaRPr lang="en-US" sz="2000" b="1" i="0" dirty="0">
              <a:solidFill>
                <a:srgbClr val="001D3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scalar (a single number) is a 0-dimensional tensor.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vector (an array of numbers) is a 1-dimensional tensor.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matrix (a 2D array) is a 2-dimensional tensor.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image can be represented as a 3D tensor (height, width, color channels).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batch of images can be represented as a 4D tensor (batch size, height, width, color channels).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05BE3C-1999-CB1B-064F-AEEC5CE75123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Tensors</a:t>
            </a:r>
          </a:p>
        </p:txBody>
      </p:sp>
    </p:spTree>
    <p:extLst>
      <p:ext uri="{BB962C8B-B14F-4D97-AF65-F5344CB8AC3E}">
        <p14:creationId xmlns:p14="http://schemas.microsoft.com/office/powerpoint/2010/main" val="3271308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3ECC-DCAE-80A3-B1A9-27FB1032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7EBC4-E376-23AE-85FF-2CAA67CF6094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Tensors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50183-AB75-2E47-9101-340359E3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516" y="1161947"/>
            <a:ext cx="7461974" cy="452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71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B5E6-0311-5311-1C8C-75255503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8D82E-0B23-9ADD-8635-9E0C6CEEC37E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77932-F023-B86B-124B-D1E8DE0E7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27" y="1705154"/>
            <a:ext cx="3240621" cy="2624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024F8-998F-51C7-E673-3EAEFB1F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01" y="1705154"/>
            <a:ext cx="4763406" cy="27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38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7D63-1C31-7E9C-5135-318478DD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2BC13-6471-1773-EF54-82B58793F0BA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Tensors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10D4B-28C0-7F57-DB69-38E9B446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95" y="1327581"/>
            <a:ext cx="7671672" cy="368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25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8899-3B23-E1FD-8F7D-E85728A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D2712-6680-DF24-FC35-F976F6A88361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 Ranks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723BA-FA27-C454-E5BE-843B9AB1B7A8}"/>
              </a:ext>
            </a:extLst>
          </p:cNvPr>
          <p:cNvSpPr txBox="1"/>
          <p:nvPr/>
        </p:nvSpPr>
        <p:spPr>
          <a:xfrm>
            <a:off x="1651519" y="1112976"/>
            <a:ext cx="85375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context of tensors, "rank" or "order" refers to the number of axes or dimensions needed to describe it</a:t>
            </a:r>
          </a:p>
          <a:p>
            <a:endParaRPr lang="en-US" sz="20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Zero-Rank Tensor (Scalar)</a:t>
            </a:r>
          </a:p>
          <a:p>
            <a:endParaRPr lang="en-IN" sz="20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First-Rank Tensor (Vector)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Second-Rank Tensor (</a:t>
            </a:r>
            <a:r>
              <a:rPr lang="en-IN" sz="200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Matrix)</a:t>
            </a:r>
          </a:p>
          <a:p>
            <a:endParaRPr lang="en-IN" sz="20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Higher-Rank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Tensors:As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rank increases, tensors can represent quantities with more complex relationships in higher dimensions, requiring more axes to define them. For example, a 3rd-rank tensor can be thought of as a cube of numbers.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244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291F-4BE4-7599-874A-0087EBE0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C1DDA-3B4E-2A66-7A62-ED19EF89C6F0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 Ranks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298A9-FEA8-269A-7A5A-D10C68FC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64" y="1468429"/>
            <a:ext cx="9222279" cy="37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34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984EB-02DD-E340-301E-0F0C51F1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6619-8355-7B5A-64E9-F09716552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0" y="2322576"/>
            <a:ext cx="8276253" cy="1901952"/>
          </a:xfrm>
        </p:spPr>
        <p:txBody>
          <a:bodyPr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DATA FLOW GRAPHS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B1B85-3B02-6C1C-FDB2-74F92A99BC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612D3-7040-A7DE-E4A2-AAF6C508F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142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9C83-43DE-4CF8-8658-8FB35BA1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B4242-90E6-381D-9305-E7E7F8511010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Flow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778D1-67A5-0F2C-2641-4DCE57206945}"/>
              </a:ext>
            </a:extLst>
          </p:cNvPr>
          <p:cNvSpPr txBox="1"/>
          <p:nvPr/>
        </p:nvSpPr>
        <p:spPr>
          <a:xfrm>
            <a:off x="716628" y="1063891"/>
            <a:ext cx="63373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 Flow Graph (DFG) 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visual representation that depicts the flow of data through a system, process, or program, showing how data is processed and transformed.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Concepts: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 (Actors):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 operations, functions, or modules that process data.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Arcs (Links):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the flow of data between nodes, indicating which node's output becomes another node's input.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Flow: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movement of data through the graph, highlighting how data is transformed or modified as it passes through different nodes.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936E10-110B-0B2D-149A-2EEC5E10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053" y="973085"/>
            <a:ext cx="3656319" cy="53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27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93DF-3F53-A1DC-8987-AB2BE4056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132B3-3212-40F9-6AEE-F54DC0AD173D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Flow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3465D-79E4-6197-514F-67F19F6A915A}"/>
              </a:ext>
            </a:extLst>
          </p:cNvPr>
          <p:cNvSpPr txBox="1"/>
          <p:nvPr/>
        </p:nvSpPr>
        <p:spPr>
          <a:xfrm>
            <a:off x="716628" y="1063891"/>
            <a:ext cx="633731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computation in TensorFlow is represented as a Data Flow Graph.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node in the graph represents a mathematical operation (add, subtract, multiply, etc), and each edge represents multidimensional arrays (Tensors).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Graph is the graph of programming logic which TensorFlow builds in memory.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creating large-scale neural networks as computing can be distributed across several CPUs or GPU’s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DB741-3E08-2AC8-7720-FDCA6155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053" y="973085"/>
            <a:ext cx="3656319" cy="53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05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CE21-19D5-4509-01AD-955F07E1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437D4E-35B2-0D1D-6B9E-201D8EE71C47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68826-E4B0-DDAB-EB0C-F71EFA17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22" y="2036181"/>
            <a:ext cx="7378611" cy="4066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DF699B-1C12-087B-1021-D524145AD6EB}"/>
              </a:ext>
            </a:extLst>
          </p:cNvPr>
          <p:cNvSpPr txBox="1"/>
          <p:nvPr/>
        </p:nvSpPr>
        <p:spPr>
          <a:xfrm>
            <a:off x="1897224" y="868559"/>
            <a:ext cx="8397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programs work on two basic concepts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a computational 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Executing a computational graph</a:t>
            </a:r>
          </a:p>
        </p:txBody>
      </p:sp>
    </p:spTree>
    <p:extLst>
      <p:ext uri="{BB962C8B-B14F-4D97-AF65-F5344CB8AC3E}">
        <p14:creationId xmlns:p14="http://schemas.microsoft.com/office/powerpoint/2010/main" val="3082989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7BD7-E88D-7D74-10B1-7A2217E2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35DB1-6058-B794-3EC3-0214FB5085A8}"/>
              </a:ext>
            </a:extLst>
          </p:cNvPr>
          <p:cNvSpPr txBox="1"/>
          <p:nvPr/>
        </p:nvSpPr>
        <p:spPr>
          <a:xfrm>
            <a:off x="3044890" y="314561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06168-70BE-D0DF-2D07-B249185A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688" y="2851844"/>
            <a:ext cx="4394680" cy="1047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BBE4B0-BAD3-6EE1-A454-5C50B8A64150}"/>
              </a:ext>
            </a:extLst>
          </p:cNvPr>
          <p:cNvSpPr/>
          <p:nvPr/>
        </p:nvSpPr>
        <p:spPr>
          <a:xfrm>
            <a:off x="4152122" y="1271642"/>
            <a:ext cx="2696547" cy="811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Multi-Dimensional Arrays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87375EE-2877-3127-051F-0D71124327E7}"/>
              </a:ext>
            </a:extLst>
          </p:cNvPr>
          <p:cNvSpPr/>
          <p:nvPr/>
        </p:nvSpPr>
        <p:spPr>
          <a:xfrm>
            <a:off x="5500395" y="2082882"/>
            <a:ext cx="200609" cy="7374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0BFFE-1E87-FBD2-1202-01A73DADE480}"/>
              </a:ext>
            </a:extLst>
          </p:cNvPr>
          <p:cNvSpPr/>
          <p:nvPr/>
        </p:nvSpPr>
        <p:spPr>
          <a:xfrm>
            <a:off x="4252425" y="5008034"/>
            <a:ext cx="2696547" cy="811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of Operations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03FE423-F208-1AE2-B1F9-965A20817E45}"/>
              </a:ext>
            </a:extLst>
          </p:cNvPr>
          <p:cNvSpPr/>
          <p:nvPr/>
        </p:nvSpPr>
        <p:spPr>
          <a:xfrm>
            <a:off x="5500395" y="3867538"/>
            <a:ext cx="200609" cy="10472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02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FF7B-9258-4474-AAE8-08C5E56DB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82" y="1013210"/>
            <a:ext cx="9589476" cy="46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35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226ABA-21DB-42C2-99DF-395BBFA0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94" y="777859"/>
            <a:ext cx="9350094" cy="472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50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A3CC1-67F1-43DC-93C4-3AE751F08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22" y="584122"/>
            <a:ext cx="8164220" cy="547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74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746B82-F5E8-46C8-9C4F-4F7CAC51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1214437"/>
            <a:ext cx="71342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2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4B8C2-B0FF-4AA9-A9F0-CF8AAFFABFD3}"/>
              </a:ext>
            </a:extLst>
          </p:cNvPr>
          <p:cNvSpPr txBox="1"/>
          <p:nvPr/>
        </p:nvSpPr>
        <p:spPr>
          <a:xfrm>
            <a:off x="1473511" y="1237309"/>
            <a:ext cx="74465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Constants are parameters whose value does not change. To define a constant, we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tf.constant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command.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tf.constant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(2.0, tf.float32)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tf.constant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(3.0) 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print(a, b)</a:t>
            </a:r>
          </a:p>
          <a:p>
            <a:pPr lvl="1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tf.Session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sess.run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(a),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sess.run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4DB6-26EC-ADBA-9973-5FD812D1118F}"/>
              </a:ext>
            </a:extLst>
          </p:cNvPr>
          <p:cNvSpPr txBox="1"/>
          <p:nvPr/>
        </p:nvSpPr>
        <p:spPr>
          <a:xfrm>
            <a:off x="2363756" y="302551"/>
            <a:ext cx="77692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 – Constants</a:t>
            </a:r>
          </a:p>
        </p:txBody>
      </p:sp>
    </p:spTree>
    <p:extLst>
      <p:ext uri="{BB962C8B-B14F-4D97-AF65-F5344CB8AC3E}">
        <p14:creationId xmlns:p14="http://schemas.microsoft.com/office/powerpoint/2010/main" val="3264312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3E9CF-1C6D-EFED-BAD6-C89618D1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C6CB2C-C25B-2A99-F8E8-F19F748E5913}"/>
              </a:ext>
            </a:extLst>
          </p:cNvPr>
          <p:cNvSpPr txBox="1"/>
          <p:nvPr/>
        </p:nvSpPr>
        <p:spPr>
          <a:xfrm>
            <a:off x="1473510" y="1237309"/>
            <a:ext cx="87061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Placeholders allow us to feed data to a TensorFlow model from outside a model.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permits a value to be assigned later.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define a placeholder, we use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tf.placeholder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command.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tf.placeholder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(tf.float32)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= a*2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tf.Session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as sess: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sess.run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b,feed_dict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={a:3.0})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result </a:t>
            </a: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feed_dict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specifies tensors that provide concrete values to the placeholders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9F741-5308-E81E-3FF7-F5302C93DA12}"/>
              </a:ext>
            </a:extLst>
          </p:cNvPr>
          <p:cNvSpPr txBox="1"/>
          <p:nvPr/>
        </p:nvSpPr>
        <p:spPr>
          <a:xfrm>
            <a:off x="1579984" y="314561"/>
            <a:ext cx="87061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 – Place Holder</a:t>
            </a:r>
          </a:p>
        </p:txBody>
      </p:sp>
    </p:spTree>
    <p:extLst>
      <p:ext uri="{BB962C8B-B14F-4D97-AF65-F5344CB8AC3E}">
        <p14:creationId xmlns:p14="http://schemas.microsoft.com/office/powerpoint/2010/main" val="3865630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8D3F-5304-68B6-50B4-DD8D86C3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56FCF8-09DC-B12F-85E8-24FC5C043293}"/>
              </a:ext>
            </a:extLst>
          </p:cNvPr>
          <p:cNvSpPr txBox="1"/>
          <p:nvPr/>
        </p:nvSpPr>
        <p:spPr>
          <a:xfrm>
            <a:off x="1473510" y="1237309"/>
            <a:ext cx="870618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allow us to add new trainable parameters to the graph.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define a variable, we use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the Variable() command 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before running the graph in a session.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tf.Variable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([.3],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dtype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=tf.float32)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tf.Variable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([-.3],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dtype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=tf.float32)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tf.Placeholder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(tf.float32) </a:t>
            </a:r>
          </a:p>
          <a:p>
            <a:pPr lvl="1"/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linear_model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W*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x+b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301B5-F30C-E6E9-0FC9-FCA6036141D7}"/>
              </a:ext>
            </a:extLst>
          </p:cNvPr>
          <p:cNvSpPr txBox="1"/>
          <p:nvPr/>
        </p:nvSpPr>
        <p:spPr>
          <a:xfrm>
            <a:off x="2251788" y="314561"/>
            <a:ext cx="7377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TensorFlow- Variables</a:t>
            </a:r>
          </a:p>
        </p:txBody>
      </p:sp>
    </p:spTree>
    <p:extLst>
      <p:ext uri="{BB962C8B-B14F-4D97-AF65-F5344CB8AC3E}">
        <p14:creationId xmlns:p14="http://schemas.microsoft.com/office/powerpoint/2010/main" val="1820271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38C7-917A-9278-E70B-CB975B87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9539B-9528-171B-738B-2134727BD85A}"/>
              </a:ext>
            </a:extLst>
          </p:cNvPr>
          <p:cNvSpPr txBox="1"/>
          <p:nvPr/>
        </p:nvSpPr>
        <p:spPr>
          <a:xfrm>
            <a:off x="1473510" y="1237309"/>
            <a:ext cx="85942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session is run to evaluate the nodes. This is called the TensorFlow runtime.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tf.constant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(5.0)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tf.constant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(3.0)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= a*b </a:t>
            </a: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# Launch Session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 =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tf.Session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# Evaluate the tensor c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print(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sess.run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6AE68-7952-3465-ED1B-A74F9F449BBA}"/>
              </a:ext>
            </a:extLst>
          </p:cNvPr>
          <p:cNvSpPr txBox="1"/>
          <p:nvPr/>
        </p:nvSpPr>
        <p:spPr>
          <a:xfrm>
            <a:off x="2643674" y="315793"/>
            <a:ext cx="70974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Elements in TensorFlow-Session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A50ED-13CB-4043-13F2-282D10845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11" y="2087412"/>
            <a:ext cx="3206819" cy="253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86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05F3-0075-4299-9CCB-1D3FC9FD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85" y="192349"/>
            <a:ext cx="10353762" cy="580008"/>
          </a:xfrm>
        </p:spPr>
        <p:txBody>
          <a:bodyPr>
            <a:normAutofit/>
          </a:bodyPr>
          <a:lstStyle/>
          <a:p>
            <a:r>
              <a:rPr lang="en-IN" sz="3200" dirty="0"/>
              <a:t>Data Types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6C2F6-B7D2-435C-B572-3AAC0980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47" y="772357"/>
            <a:ext cx="5172075" cy="5467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0B05F-071A-40FD-B67A-F6B2E9956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422" y="772357"/>
            <a:ext cx="465772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96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CAF29E-C522-4F3A-B24D-CF7C6069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861" y="368394"/>
            <a:ext cx="6141044" cy="627566"/>
          </a:xfrm>
        </p:spPr>
        <p:txBody>
          <a:bodyPr>
            <a:noAutofit/>
          </a:bodyPr>
          <a:lstStyle/>
          <a:p>
            <a:r>
              <a:rPr lang="en-US" sz="3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object types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35BC8-B8FA-F393-FC9E-7682A7CA4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519" y="1019867"/>
            <a:ext cx="9646733" cy="5240974"/>
          </a:xfrm>
        </p:spPr>
        <p:txBody>
          <a:bodyPr/>
          <a:lstStyle/>
          <a:p>
            <a:pPr marL="0" indent="0">
              <a:buNone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employs several key object types to manage and manipulate data within its computational graphs.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object types work together to enable the construction, execution, and training of machine learning models within the TensorFlow framework.</a:t>
            </a:r>
          </a:p>
          <a:p>
            <a:pPr marL="0" indent="0">
              <a:buNone/>
            </a:pPr>
            <a:endParaRPr lang="en-US" sz="2000" b="0" i="0" dirty="0">
              <a:solidFill>
                <a:srgbClr val="001D3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include</a:t>
            </a:r>
          </a:p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Tensors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Tensors are the fundamental data structure in TensorFlow, representing multi-dimensional arrays. 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can hold data of various types, such as integers, floating-point numbers, or strings.</a:t>
            </a:r>
          </a:p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are used to store and update parameters within a TensorFlow model during training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21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3A2E-42F6-09A7-1ECB-E7595467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417AD67-A9E5-EA99-DCFC-144847F8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861" y="191113"/>
            <a:ext cx="6141044" cy="627566"/>
          </a:xfrm>
        </p:spPr>
        <p:txBody>
          <a:bodyPr>
            <a:noAutofit/>
          </a:bodyPr>
          <a:lstStyle/>
          <a:p>
            <a:r>
              <a:rPr lang="en-US" sz="3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object types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9F7B-697A-4606-19A1-FA27A25A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633" y="842585"/>
            <a:ext cx="9646733" cy="5567546"/>
          </a:xfrm>
        </p:spPr>
        <p:txBody>
          <a:bodyPr/>
          <a:lstStyle/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Placeholders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Placeholders act as stand-ins for input data that will be fed into the graph at runtime. They allow the construction of the computational graph independently of the actual data.</a:t>
            </a:r>
          </a:p>
          <a:p>
            <a:pPr algn="l">
              <a:lnSpc>
                <a:spcPts val="1650"/>
              </a:lnSpc>
              <a:buNone/>
            </a:pPr>
            <a:endParaRPr lang="en-US" sz="2000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(Ops)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represent computations performed on tensors. Examples include addition, multiplication, and matrix operations.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TensorFlow graph is a representation of the entire computation, consisting of interconnected nodes (operations) and edges (tensors). It defines the sequence of operations to be performed.</a:t>
            </a:r>
          </a:p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None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API provides a way to represent and manipulate large datasets efficiently. It allows for operations like batching, shuffling, and mapping functions over the data.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639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05F3-0075-4299-9CCB-1D3FC9FD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8" y="512064"/>
            <a:ext cx="5304391" cy="616940"/>
          </a:xfrm>
        </p:spPr>
        <p:txBody>
          <a:bodyPr/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 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BAA0B-5A57-3339-C402-28B08231E3D9}"/>
              </a:ext>
            </a:extLst>
          </p:cNvPr>
          <p:cNvSpPr txBox="1"/>
          <p:nvPr/>
        </p:nvSpPr>
        <p:spPr>
          <a:xfrm>
            <a:off x="1436913" y="1129004"/>
            <a:ext cx="79590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 Board is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web-based visualization toolkit for TensorFlow and other machine learning frameworks that allows users to inspect and understand their models and training process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05CA3-E098-05BB-A7CB-6476CFE35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06" y="2798045"/>
            <a:ext cx="5685118" cy="222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24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1964</TotalTime>
  <Words>1633</Words>
  <Application>Microsoft Office PowerPoint</Application>
  <PresentationFormat>Widescreen</PresentationFormat>
  <Paragraphs>210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Rounded MT Bold</vt:lpstr>
      <vt:lpstr>Calibri</vt:lpstr>
      <vt:lpstr>Century Gothic</vt:lpstr>
      <vt:lpstr>Google Sans</vt:lpstr>
      <vt:lpstr>Karla</vt:lpstr>
      <vt:lpstr>Univers Condensed Light</vt:lpstr>
      <vt:lpstr>Office Theme</vt:lpstr>
      <vt:lpstr>Introduction to TensorFlow</vt:lpstr>
      <vt:lpstr>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TENSORFLOW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TENSORS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Types </vt:lpstr>
      <vt:lpstr>TensorFlow object types</vt:lpstr>
      <vt:lpstr>TensorFlow object types</vt:lpstr>
      <vt:lpstr>Tensor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272</cp:revision>
  <dcterms:created xsi:type="dcterms:W3CDTF">2023-08-11T17:08:08Z</dcterms:created>
  <dcterms:modified xsi:type="dcterms:W3CDTF">2026-01-20T06:00:46Z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